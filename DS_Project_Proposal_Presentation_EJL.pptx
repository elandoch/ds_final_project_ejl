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83" r:id="rId4"/>
  </p:sldMasterIdLst>
  <p:notesMasterIdLst>
    <p:notesMasterId r:id="rId10"/>
  </p:notesMasterIdLst>
  <p:handoutMasterIdLst>
    <p:handoutMasterId r:id="rId11"/>
  </p:handoutMasterIdLst>
  <p:sldIdLst>
    <p:sldId id="338" r:id="rId5"/>
    <p:sldId id="317" r:id="rId6"/>
    <p:sldId id="336" r:id="rId7"/>
    <p:sldId id="337" r:id="rId8"/>
    <p:sldId id="31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5394" autoAdjust="0"/>
  </p:normalViewPr>
  <p:slideViewPr>
    <p:cSldViewPr snapToGrid="0">
      <p:cViewPr>
        <p:scale>
          <a:sx n="60" d="100"/>
          <a:sy n="60" d="100"/>
        </p:scale>
        <p:origin x="720" y="264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1/20/2026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3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06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2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73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73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42765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12729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249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61204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46545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50277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314726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Dante (Headings)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501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39915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5413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520741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45414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89020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05342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C4E27-95CA-78A5-BD7A-6109D75C8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AE4F7BC-B724-2456-4104-1C5E254EEF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2178" y="2198914"/>
            <a:ext cx="6487908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32285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3168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6289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  <p:sldLayoutId id="2147483898" r:id="rId12"/>
    <p:sldLayoutId id="2147483899" r:id="rId13"/>
    <p:sldLayoutId id="2147483901" r:id="rId14"/>
    <p:sldLayoutId id="2147483902" r:id="rId15"/>
    <p:sldLayoutId id="2147483905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US" sz="4650" dirty="0"/>
              <a:t>Predicting Cardiovascular Risk Using Lifestyle and Access-to-Care Factors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552F1CF-68AA-447B-B5B0-C65BB72A5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sz="2500" dirty="0"/>
              <a:t>Ellie Landoch</a:t>
            </a:r>
          </a:p>
          <a:p>
            <a:r>
              <a:rPr lang="en-US" sz="2500" dirty="0"/>
              <a:t>DS450 Data Science Senior Capstone</a:t>
            </a:r>
          </a:p>
          <a:p>
            <a:r>
              <a:rPr lang="en-US" sz="2500" dirty="0"/>
              <a:t>01/20/2026</a:t>
            </a:r>
          </a:p>
        </p:txBody>
      </p:sp>
    </p:spTree>
    <p:extLst>
      <p:ext uri="{BB962C8B-B14F-4D97-AF65-F5344CB8AC3E}">
        <p14:creationId xmlns:p14="http://schemas.microsoft.com/office/powerpoint/2010/main" val="4045600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5832-3B88-48CF-8043-95E6A490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dirty="0"/>
              <a:t>Project Overview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FF9F1-02F2-4FD4-A3BF-42428815EF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Problem</a:t>
            </a:r>
          </a:p>
          <a:p>
            <a:pPr lvl="1"/>
            <a:r>
              <a:rPr lang="en-US" sz="2300" dirty="0"/>
              <a:t>Cardiovascular disease is a leading cause of death</a:t>
            </a:r>
          </a:p>
          <a:p>
            <a:pPr lvl="1"/>
            <a:r>
              <a:rPr lang="en-US" sz="2300" dirty="0"/>
              <a:t>Many cases are preventable with early intervention</a:t>
            </a:r>
          </a:p>
          <a:p>
            <a:pPr lvl="1"/>
            <a:r>
              <a:rPr lang="en-US" sz="2300" dirty="0"/>
              <a:t>Risk influenced by lifestyle and access to care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EC64CEEC-83BF-60C7-B00E-F2DE1BC0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EF738-C546-48C9-8CF1-CCC2D0FA090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/>
              <a:t>Proposed Solution</a:t>
            </a:r>
          </a:p>
          <a:p>
            <a:pPr lvl="1"/>
            <a:r>
              <a:rPr lang="en-US" sz="2300" dirty="0"/>
              <a:t>Develop predictive models for cardiovascular risk</a:t>
            </a:r>
          </a:p>
          <a:p>
            <a:pPr lvl="1"/>
            <a:r>
              <a:rPr lang="en-US" sz="2300" dirty="0"/>
              <a:t>Use lifestyle, clinical, and access-to-care variables</a:t>
            </a:r>
          </a:p>
          <a:p>
            <a:pPr lvl="1"/>
            <a:r>
              <a:rPr lang="en-US" sz="2300" dirty="0"/>
              <a:t>Evaluate differences across populations</a:t>
            </a:r>
          </a:p>
        </p:txBody>
      </p:sp>
    </p:spTree>
    <p:extLst>
      <p:ext uri="{BB962C8B-B14F-4D97-AF65-F5344CB8AC3E}">
        <p14:creationId xmlns:p14="http://schemas.microsoft.com/office/powerpoint/2010/main" val="2897687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5544-C200-BEF3-61CE-CCB5EE89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dirty="0"/>
              <a:t>Project Idea &amp; Motivation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5A923-029A-6A16-47FE-49ED6E141D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198914"/>
            <a:ext cx="4979561" cy="3445987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/>
              <a:t>Motivation</a:t>
            </a:r>
          </a:p>
          <a:p>
            <a:r>
              <a:rPr lang="en-US" sz="2300" dirty="0"/>
              <a:t>Early risk identification supports prevention</a:t>
            </a:r>
          </a:p>
          <a:p>
            <a:r>
              <a:rPr lang="en-US" sz="2300" dirty="0"/>
              <a:t>Preventive resources are not equally accessible </a:t>
            </a:r>
          </a:p>
          <a:p>
            <a:r>
              <a:rPr lang="en-US" sz="2300" dirty="0"/>
              <a:t>Data-driven insights can inform equitable care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E4A32E4-179C-6FC0-8A0F-65F163803AB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5806B-4BE0-6B7B-FE18-DF2D7567071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22178" y="2198914"/>
            <a:ext cx="5673822" cy="3455925"/>
          </a:xfrm>
        </p:spPr>
        <p:txBody>
          <a:bodyPr/>
          <a:lstStyle/>
          <a:p>
            <a:r>
              <a:rPr lang="en-US" sz="2800" dirty="0"/>
              <a:t>Project Idea</a:t>
            </a:r>
          </a:p>
          <a:p>
            <a:pPr lvl="1"/>
            <a:r>
              <a:rPr lang="en-US" sz="2300" dirty="0"/>
              <a:t>Build predictive models for cardiovascular disease</a:t>
            </a:r>
          </a:p>
          <a:p>
            <a:pPr lvl="1"/>
            <a:r>
              <a:rPr lang="en-US" sz="2300" dirty="0"/>
              <a:t>Examine lifestyle behaviors as preventative healthcare</a:t>
            </a:r>
          </a:p>
          <a:p>
            <a:pPr lvl="1"/>
            <a:r>
              <a:rPr lang="en-US" sz="2300" dirty="0"/>
              <a:t>Incorporate access and equity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1147369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0268-1494-2660-4948-863C5C72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dirty="0"/>
              <a:t>Dataset &amp; Predictive Models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94F5F6-7059-E66A-7133-6DDF973378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000" dirty="0"/>
              <a:t>Dataset</a:t>
            </a:r>
          </a:p>
          <a:p>
            <a:r>
              <a:rPr lang="en-US" sz="2500" dirty="0"/>
              <a:t>NHANES cardiometabolic subset (CDC)</a:t>
            </a:r>
          </a:p>
          <a:p>
            <a:r>
              <a:rPr lang="en-US" sz="2500" dirty="0"/>
              <a:t>~10,000 US adults</a:t>
            </a:r>
          </a:p>
          <a:p>
            <a:r>
              <a:rPr lang="en-US" sz="2500" dirty="0"/>
              <a:t>Lifestyle, clinical, socioeconomic variables</a:t>
            </a:r>
          </a:p>
          <a:p>
            <a:r>
              <a:rPr lang="en-US" sz="2500" dirty="0"/>
              <a:t>Target variable: cardiovascular disease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52E9A-D084-7FDA-32AA-D4368360A1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Predictive Models</a:t>
            </a:r>
          </a:p>
          <a:p>
            <a:pPr lvl="1"/>
            <a:r>
              <a:rPr lang="en-US" sz="2300" dirty="0"/>
              <a:t>Logistic regression (baseline)</a:t>
            </a:r>
          </a:p>
          <a:p>
            <a:pPr lvl="1"/>
            <a:r>
              <a:rPr lang="en-US" sz="2300" dirty="0"/>
              <a:t>Random Forest</a:t>
            </a:r>
          </a:p>
          <a:p>
            <a:pPr lvl="1"/>
            <a:r>
              <a:rPr lang="en-US" sz="2300" dirty="0"/>
              <a:t>Gradient Boosting</a:t>
            </a:r>
          </a:p>
          <a:p>
            <a:pPr lvl="1"/>
            <a:r>
              <a:rPr lang="en-US" sz="2300" dirty="0"/>
              <a:t>k-Nearest Neighbors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9C3EA6F-C7F7-8CA4-C495-1C9EEFF33DF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3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1794-986C-4679-93EA-5F3C3EE6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9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403B-F6A5-4855-B204-4A9D1F5B2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6" y="1977656"/>
            <a:ext cx="9741183" cy="3742660"/>
          </a:xfrm>
        </p:spPr>
        <p:txBody>
          <a:bodyPr>
            <a:normAutofit fontScale="92500" lnSpcReduction="20000"/>
          </a:bodyPr>
          <a:lstStyle/>
          <a:p>
            <a:r>
              <a:rPr lang="en-US" sz="3000" dirty="0"/>
              <a:t>Expected Outcomes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Identify key cardiovascular risk factors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Compare predictive 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Evaluate equity in model predictions</a:t>
            </a:r>
          </a:p>
          <a:p>
            <a:r>
              <a:rPr lang="en-US" sz="3000" dirty="0"/>
              <a:t>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Support preventative healthcare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Highlight disparities in cardiovascular risk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dirty="0"/>
              <a:t>Demonstrate real-world predictive analytics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53F77DE-9A00-003D-3E35-AA011DA6A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D73156-2390-BB42-48B5-818ECA165475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628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Dante"/>
        <a:ea typeface=""/>
        <a:cs typeface=""/>
      </a:majorFont>
      <a:minorFont>
        <a:latin typeface="Dan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29436BC-77AE-4AEE-A282-4E162A1CAA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B37DAF-AFAF-4561-A80B-C76198EBD31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B665E41-66EB-401D-940D-8E7024721B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{35599BF7-B6BB-4CE8-9247-DF92E81AEBD1}TF6ea1097e-8114-4abb-8578-efc1cea4ec3c79c3debc_win32-15e8df654485</Template>
  <TotalTime>14</TotalTime>
  <Words>183</Words>
  <Application>Microsoft Office PowerPoint</Application>
  <PresentationFormat>Widescreen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Dante</vt:lpstr>
      <vt:lpstr>Dante (Headings)2</vt:lpstr>
      <vt:lpstr>Helvetica Neue Medium</vt:lpstr>
      <vt:lpstr>Wingdings 2</vt:lpstr>
      <vt:lpstr>OffsetVTI</vt:lpstr>
      <vt:lpstr>Predicting Cardiovascular Risk Using Lifestyle and Access-to-Care Factors</vt:lpstr>
      <vt:lpstr>Project Overview</vt:lpstr>
      <vt:lpstr>Project Idea &amp; Motivation</vt:lpstr>
      <vt:lpstr>Dataset &amp; Predictive Models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ellie landoch</dc:creator>
  <cp:lastModifiedBy>ellie landoch</cp:lastModifiedBy>
  <cp:revision>1</cp:revision>
  <dcterms:created xsi:type="dcterms:W3CDTF">2026-01-20T05:33:56Z</dcterms:created>
  <dcterms:modified xsi:type="dcterms:W3CDTF">2026-01-20T05:48:09Z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
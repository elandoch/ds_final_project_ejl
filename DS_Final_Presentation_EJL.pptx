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9" r:id="rId7"/>
    <p:sldId id="268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ie landoch" userId="4aa5fccd772a899f" providerId="LiveId" clId="{9E5F4F78-D0C1-40C0-9520-8CDAB5AA6FD0}"/>
    <pc:docChg chg="modSld">
      <pc:chgData name="ellie landoch" userId="4aa5fccd772a899f" providerId="LiveId" clId="{9E5F4F78-D0C1-40C0-9520-8CDAB5AA6FD0}" dt="2026-04-28T01:37:47.864" v="166" actId="255"/>
      <pc:docMkLst>
        <pc:docMk/>
      </pc:docMkLst>
      <pc:sldChg chg="modSp mod">
        <pc:chgData name="ellie landoch" userId="4aa5fccd772a899f" providerId="LiveId" clId="{9E5F4F78-D0C1-40C0-9520-8CDAB5AA6FD0}" dt="2026-04-28T01:37:47.864" v="166" actId="255"/>
        <pc:sldMkLst>
          <pc:docMk/>
          <pc:sldMk cId="687204364" sldId="257"/>
        </pc:sldMkLst>
        <pc:spChg chg="mod">
          <ac:chgData name="ellie landoch" userId="4aa5fccd772a899f" providerId="LiveId" clId="{9E5F4F78-D0C1-40C0-9520-8CDAB5AA6FD0}" dt="2026-04-28T01:37:47.864" v="166" actId="255"/>
          <ac:spMkLst>
            <pc:docMk/>
            <pc:sldMk cId="687204364" sldId="257"/>
            <ac:spMk id="3" creationId="{6A9F17A2-2267-3E85-3101-56E330B55E64}"/>
          </ac:spMkLst>
        </pc:spChg>
      </pc:sldChg>
      <pc:sldChg chg="modSp mod">
        <pc:chgData name="ellie landoch" userId="4aa5fccd772a899f" providerId="LiveId" clId="{9E5F4F78-D0C1-40C0-9520-8CDAB5AA6FD0}" dt="2026-04-28T01:35:32.329" v="45" actId="20577"/>
        <pc:sldMkLst>
          <pc:docMk/>
          <pc:sldMk cId="1992446442" sldId="259"/>
        </pc:sldMkLst>
        <pc:spChg chg="mod">
          <ac:chgData name="ellie landoch" userId="4aa5fccd772a899f" providerId="LiveId" clId="{9E5F4F78-D0C1-40C0-9520-8CDAB5AA6FD0}" dt="2026-04-28T01:35:32.329" v="45" actId="20577"/>
          <ac:spMkLst>
            <pc:docMk/>
            <pc:sldMk cId="1992446442" sldId="259"/>
            <ac:spMk id="3" creationId="{3DDAC7DD-3D38-6937-F7B2-37D330AD5DB5}"/>
          </ac:spMkLst>
        </pc:spChg>
      </pc:sldChg>
      <pc:sldChg chg="modSp mod">
        <pc:chgData name="ellie landoch" userId="4aa5fccd772a899f" providerId="LiveId" clId="{9E5F4F78-D0C1-40C0-9520-8CDAB5AA6FD0}" dt="2026-04-28T01:35:44.586" v="63" actId="20577"/>
        <pc:sldMkLst>
          <pc:docMk/>
          <pc:sldMk cId="2354294619" sldId="260"/>
        </pc:sldMkLst>
        <pc:spChg chg="mod">
          <ac:chgData name="ellie landoch" userId="4aa5fccd772a899f" providerId="LiveId" clId="{9E5F4F78-D0C1-40C0-9520-8CDAB5AA6FD0}" dt="2026-04-28T01:35:44.586" v="63" actId="20577"/>
          <ac:spMkLst>
            <pc:docMk/>
            <pc:sldMk cId="2354294619" sldId="260"/>
            <ac:spMk id="3" creationId="{F5F20008-67DC-36C9-A761-677911E0C7B4}"/>
          </ac:spMkLst>
        </pc:spChg>
      </pc:sldChg>
      <pc:sldChg chg="modSp mod">
        <pc:chgData name="ellie landoch" userId="4aa5fccd772a899f" providerId="LiveId" clId="{9E5F4F78-D0C1-40C0-9520-8CDAB5AA6FD0}" dt="2026-04-28T01:37:09.593" v="165" actId="20577"/>
        <pc:sldMkLst>
          <pc:docMk/>
          <pc:sldMk cId="2313698646" sldId="265"/>
        </pc:sldMkLst>
        <pc:spChg chg="mod">
          <ac:chgData name="ellie landoch" userId="4aa5fccd772a899f" providerId="LiveId" clId="{9E5F4F78-D0C1-40C0-9520-8CDAB5AA6FD0}" dt="2026-04-28T01:37:09.593" v="165" actId="20577"/>
          <ac:spMkLst>
            <pc:docMk/>
            <pc:sldMk cId="2313698646" sldId="265"/>
            <ac:spMk id="3" creationId="{DCE25FE5-012E-7DF8-1D66-621E43FBB1E7}"/>
          </ac:spMkLst>
        </pc:spChg>
      </pc:sldChg>
      <pc:sldChg chg="modSp mod">
        <pc:chgData name="ellie landoch" userId="4aa5fccd772a899f" providerId="LiveId" clId="{9E5F4F78-D0C1-40C0-9520-8CDAB5AA6FD0}" dt="2026-04-28T01:36:09.447" v="83" actId="14100"/>
        <pc:sldMkLst>
          <pc:docMk/>
          <pc:sldMk cId="2150649314" sldId="268"/>
        </pc:sldMkLst>
        <pc:spChg chg="mod">
          <ac:chgData name="ellie landoch" userId="4aa5fccd772a899f" providerId="LiveId" clId="{9E5F4F78-D0C1-40C0-9520-8CDAB5AA6FD0}" dt="2026-04-28T01:36:09.447" v="83" actId="14100"/>
          <ac:spMkLst>
            <pc:docMk/>
            <pc:sldMk cId="2150649314" sldId="268"/>
            <ac:spMk id="4" creationId="{44DAF28E-80D4-26D2-56F1-676A833538BE}"/>
          </ac:spMkLst>
        </pc:spChg>
      </pc:sldChg>
      <pc:sldChg chg="modSp mod">
        <pc:chgData name="ellie landoch" userId="4aa5fccd772a899f" providerId="LiveId" clId="{9E5F4F78-D0C1-40C0-9520-8CDAB5AA6FD0}" dt="2026-04-28T01:34:50.762" v="0" actId="113"/>
        <pc:sldMkLst>
          <pc:docMk/>
          <pc:sldMk cId="132747647" sldId="269"/>
        </pc:sldMkLst>
        <pc:graphicFrameChg chg="modGraphic">
          <ac:chgData name="ellie landoch" userId="4aa5fccd772a899f" providerId="LiveId" clId="{9E5F4F78-D0C1-40C0-9520-8CDAB5AA6FD0}" dt="2026-04-28T01:34:50.762" v="0" actId="113"/>
          <ac:graphicFrameMkLst>
            <pc:docMk/>
            <pc:sldMk cId="132747647" sldId="269"/>
            <ac:graphicFrameMk id="5" creationId="{8C72E184-61CF-6CF1-53CE-CEA8302E00F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D86941-DC7F-40A5-ACFC-64D2659F375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E3DC61-9326-429D-B074-7CB5427C8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93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3DC61-9326-429D-B074-7CB5427C83D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48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DCF92ED-B033-47DC-9E7F-536FEE0021C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1D92BD2-9273-4C30-AEBA-E38FCC4E1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513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F92ED-B033-47DC-9E7F-536FEE0021C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A1D92BD2-9273-4C30-AEBA-E38FCC4E1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66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DCF92ED-B033-47DC-9E7F-536FEE0021C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1D92BD2-9273-4C30-AEBA-E38FCC4E1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35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F92ED-B033-47DC-9E7F-536FEE0021C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2BD2-9273-4C30-AEBA-E38FCC4E1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23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F92ED-B033-47DC-9E7F-536FEE0021C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2BD2-9273-4C30-AEBA-E38FCC4E1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03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F92ED-B033-47DC-9E7F-536FEE0021C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2BD2-9273-4C30-AEBA-E38FCC4E1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817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F92ED-B033-47DC-9E7F-536FEE0021C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2BD2-9273-4C30-AEBA-E38FCC4E1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41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DCF92ED-B033-47DC-9E7F-536FEE0021C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1D92BD2-9273-4C30-AEBA-E38FCC4E1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471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F92ED-B033-47DC-9E7F-536FEE0021C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2BD2-9273-4C30-AEBA-E38FCC4E1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731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F92ED-B033-47DC-9E7F-536FEE0021C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2BD2-9273-4C30-AEBA-E38FCC4E1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915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DCF92ED-B033-47DC-9E7F-536FEE0021C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1D92BD2-9273-4C30-AEBA-E38FCC4E1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76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DCF92ED-B033-47DC-9E7F-536FEE0021C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1D92BD2-9273-4C30-AEBA-E38FCC4E17F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EC7AA7E-81E8-4755-AC3D-2CE40312D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B956FD-3E35-4658-9C8B-3A48FD2DB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4419" y="457200"/>
            <a:ext cx="9961047" cy="36780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132B40-033E-2B83-A59A-076D068DE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5278" y="668740"/>
            <a:ext cx="7574507" cy="3330055"/>
          </a:xfrm>
        </p:spPr>
        <p:txBody>
          <a:bodyPr anchor="t"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Predicting Cardiometabolic Risk Using Machine Learning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BC678D-D15E-4FC5-8CBF-5308E841A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4352" y="4244454"/>
            <a:ext cx="9961115" cy="2072481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DFA3C-7E13-71AB-AD17-BFE28D44C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5278" y="4462818"/>
            <a:ext cx="7574507" cy="1640983"/>
          </a:xfrm>
        </p:spPr>
        <p:txBody>
          <a:bodyPr anchor="t">
            <a:normAutofit/>
          </a:bodyPr>
          <a:lstStyle/>
          <a:p>
            <a:r>
              <a:rPr lang="en-US" sz="3600" dirty="0">
                <a:solidFill>
                  <a:schemeClr val="accent4">
                    <a:lumMod val="50000"/>
                  </a:schemeClr>
                </a:solidFill>
              </a:rPr>
              <a:t>Data Science Capstone Project</a:t>
            </a:r>
          </a:p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Ellie Landoch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188C2F-B457-4F86-B4B4-79703666D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191" y="457201"/>
            <a:ext cx="1106164" cy="5859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797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B2A96-D1FA-7394-53EB-DA2941B32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F17A2-2267-3E85-3101-56E330B55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Cardiovascular disease is a leading cause of death</a:t>
            </a:r>
          </a:p>
          <a:p>
            <a:r>
              <a:rPr lang="en-US" sz="2200" dirty="0"/>
              <a:t>Early detection of risk is important</a:t>
            </a:r>
          </a:p>
          <a:p>
            <a:r>
              <a:rPr lang="en-US" sz="2200" dirty="0"/>
              <a:t>Health data may help identify at-risk individuals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600" b="1" dirty="0"/>
              <a:t>Question:</a:t>
            </a:r>
          </a:p>
          <a:p>
            <a:pPr marL="0" indent="0">
              <a:buNone/>
            </a:pPr>
            <a:r>
              <a:rPr lang="en-US" sz="2600" dirty="0"/>
              <a:t>Can machine learning predict hypertension risk?</a:t>
            </a:r>
          </a:p>
        </p:txBody>
      </p:sp>
    </p:spTree>
    <p:extLst>
      <p:ext uri="{BB962C8B-B14F-4D97-AF65-F5344CB8AC3E}">
        <p14:creationId xmlns:p14="http://schemas.microsoft.com/office/powerpoint/2010/main" val="687204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05134-049A-DD32-E878-F4B293AA8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E9B24-20F0-746F-F8B5-C27472E45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NHANES (CDC dataset)</a:t>
            </a:r>
          </a:p>
          <a:p>
            <a:r>
              <a:rPr lang="en-US" sz="2200" dirty="0"/>
              <a:t>~10,000 U.S. adults</a:t>
            </a:r>
          </a:p>
          <a:p>
            <a:r>
              <a:rPr lang="en-US" sz="2200" dirty="0"/>
              <a:t>Includes:</a:t>
            </a:r>
          </a:p>
          <a:p>
            <a:pPr lvl="1"/>
            <a:r>
              <a:rPr lang="en-US" sz="2000" dirty="0"/>
              <a:t>Demographics</a:t>
            </a:r>
          </a:p>
          <a:p>
            <a:pPr lvl="1"/>
            <a:r>
              <a:rPr lang="en-US" sz="2000" dirty="0"/>
              <a:t>Lifestyle factors</a:t>
            </a:r>
          </a:p>
          <a:p>
            <a:pPr lvl="1"/>
            <a:r>
              <a:rPr lang="en-US" sz="2000" dirty="0"/>
              <a:t>Clinical measurements</a:t>
            </a:r>
          </a:p>
          <a:p>
            <a:r>
              <a:rPr lang="en-US" sz="2200" dirty="0"/>
              <a:t>Includes lab values, body measurements, and survey data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939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9F431-6097-F3E9-7D13-489547323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AC7DD-3D38-6937-F7B2-37D330AD5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Performed data cleaning and preprocessing</a:t>
            </a:r>
          </a:p>
          <a:p>
            <a:r>
              <a:rPr lang="en-US" sz="2200" dirty="0"/>
              <a:t>Removed leakage variables</a:t>
            </a:r>
          </a:p>
          <a:p>
            <a:r>
              <a:rPr lang="en-US" sz="2200" dirty="0"/>
              <a:t>Train/test split (80/20)</a:t>
            </a:r>
          </a:p>
          <a:p>
            <a:r>
              <a:rPr lang="en-US" sz="2200" dirty="0"/>
              <a:t>Tested models with and without BP variables</a:t>
            </a:r>
          </a:p>
          <a:p>
            <a:r>
              <a:rPr lang="en-US" sz="2200" dirty="0"/>
              <a:t>Evaluated models using accuracy, precision, recall, and AUC</a:t>
            </a:r>
          </a:p>
        </p:txBody>
      </p:sp>
    </p:spTree>
    <p:extLst>
      <p:ext uri="{BB962C8B-B14F-4D97-AF65-F5344CB8AC3E}">
        <p14:creationId xmlns:p14="http://schemas.microsoft.com/office/powerpoint/2010/main" val="1992446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BA9B5-37DA-6CAA-2BF4-3D4EEF19A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20008-67DC-36C9-A761-677911E0C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Logistic Regression (baseline statistical model)</a:t>
            </a:r>
          </a:p>
          <a:p>
            <a:r>
              <a:rPr lang="en-US" sz="2200" dirty="0"/>
              <a:t>Random Forest (ensemble model)</a:t>
            </a:r>
          </a:p>
          <a:p>
            <a:r>
              <a:rPr lang="en-US" sz="2200" dirty="0"/>
              <a:t>Gradient Boosting (sequential model)</a:t>
            </a:r>
          </a:p>
          <a:p>
            <a:r>
              <a:rPr lang="en-US" sz="2200" dirty="0"/>
              <a:t>K-Nearest Neighbors (distance-based model)</a:t>
            </a:r>
          </a:p>
        </p:txBody>
      </p:sp>
    </p:spTree>
    <p:extLst>
      <p:ext uri="{BB962C8B-B14F-4D97-AF65-F5344CB8AC3E}">
        <p14:creationId xmlns:p14="http://schemas.microsoft.com/office/powerpoint/2010/main" val="2354294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D0367-C331-0161-0A61-31F39C2BD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Model Performance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C72E184-61CF-6CF1-53CE-CEA8302E00F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43979272"/>
              </p:ext>
            </p:extLst>
          </p:nvPr>
        </p:nvGraphicFramePr>
        <p:xfrm>
          <a:off x="3384550" y="2437575"/>
          <a:ext cx="54229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1450">
                  <a:extLst>
                    <a:ext uri="{9D8B030D-6E8A-4147-A177-3AD203B41FA5}">
                      <a16:colId xmlns:a16="http://schemas.microsoft.com/office/drawing/2014/main" val="2853888044"/>
                    </a:ext>
                  </a:extLst>
                </a:gridCol>
                <a:gridCol w="2711450">
                  <a:extLst>
                    <a:ext uri="{9D8B030D-6E8A-4147-A177-3AD203B41FA5}">
                      <a16:colId xmlns:a16="http://schemas.microsoft.com/office/drawing/2014/main" val="7208511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Model</a:t>
                      </a:r>
                    </a:p>
                  </a:txBody>
                  <a:tcPr marL="95698" marR="95698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Accuracy</a:t>
                      </a:r>
                    </a:p>
                  </a:txBody>
                  <a:tcPr marL="95698" marR="95698"/>
                </a:tc>
                <a:extLst>
                  <a:ext uri="{0D108BD9-81ED-4DB2-BD59-A6C34878D82A}">
                    <a16:rowId xmlns:a16="http://schemas.microsoft.com/office/drawing/2014/main" val="3668420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/>
                        <a:t>Logistic Regression</a:t>
                      </a:r>
                      <a:endParaRPr lang="en-US" sz="2200" dirty="0"/>
                    </a:p>
                  </a:txBody>
                  <a:tcPr marL="95698" marR="95698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~0.89</a:t>
                      </a:r>
                      <a:endParaRPr lang="en-US" sz="2200" dirty="0"/>
                    </a:p>
                  </a:txBody>
                  <a:tcPr marL="95698" marR="95698"/>
                </a:tc>
                <a:extLst>
                  <a:ext uri="{0D108BD9-81ED-4DB2-BD59-A6C34878D82A}">
                    <a16:rowId xmlns:a16="http://schemas.microsoft.com/office/drawing/2014/main" val="1692687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/>
                        <a:t>Random Forest</a:t>
                      </a:r>
                      <a:endParaRPr lang="en-US" sz="2200" dirty="0"/>
                    </a:p>
                  </a:txBody>
                  <a:tcPr marL="95698" marR="95698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~0.92</a:t>
                      </a:r>
                    </a:p>
                  </a:txBody>
                  <a:tcPr marL="95698" marR="95698"/>
                </a:tc>
                <a:extLst>
                  <a:ext uri="{0D108BD9-81ED-4DB2-BD59-A6C34878D82A}">
                    <a16:rowId xmlns:a16="http://schemas.microsoft.com/office/drawing/2014/main" val="3763332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Gradient Boosting</a:t>
                      </a:r>
                    </a:p>
                  </a:txBody>
                  <a:tcPr marL="95698" marR="95698"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~0.93</a:t>
                      </a:r>
                    </a:p>
                  </a:txBody>
                  <a:tcPr marL="95698" marR="95698"/>
                </a:tc>
                <a:extLst>
                  <a:ext uri="{0D108BD9-81ED-4DB2-BD59-A6C34878D82A}">
                    <a16:rowId xmlns:a16="http://schemas.microsoft.com/office/drawing/2014/main" val="392284276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5EA28-A139-59DC-F0B5-DAE7B1D1B4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5058" y="3224953"/>
            <a:ext cx="5422392" cy="3633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Key takeaway:</a:t>
            </a:r>
          </a:p>
          <a:p>
            <a:pPr marL="0" indent="0">
              <a:buNone/>
            </a:pPr>
            <a:r>
              <a:rPr lang="en-US" sz="2200" dirty="0"/>
              <a:t>Gradient Boosting performed best</a:t>
            </a:r>
          </a:p>
        </p:txBody>
      </p:sp>
    </p:spTree>
    <p:extLst>
      <p:ext uri="{BB962C8B-B14F-4D97-AF65-F5344CB8AC3E}">
        <p14:creationId xmlns:p14="http://schemas.microsoft.com/office/powerpoint/2010/main" val="132747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124F6-A5D2-204E-2A3B-C25A85DE2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Impact of Blood Pressure Variables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2B897F4-70C2-ACFD-FE5B-7B34B9EEE97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83498298"/>
              </p:ext>
            </p:extLst>
          </p:nvPr>
        </p:nvGraphicFramePr>
        <p:xfrm>
          <a:off x="1778913" y="2218119"/>
          <a:ext cx="8069199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9733">
                  <a:extLst>
                    <a:ext uri="{9D8B030D-6E8A-4147-A177-3AD203B41FA5}">
                      <a16:colId xmlns:a16="http://schemas.microsoft.com/office/drawing/2014/main" val="1968018128"/>
                    </a:ext>
                  </a:extLst>
                </a:gridCol>
                <a:gridCol w="2689733">
                  <a:extLst>
                    <a:ext uri="{9D8B030D-6E8A-4147-A177-3AD203B41FA5}">
                      <a16:colId xmlns:a16="http://schemas.microsoft.com/office/drawing/2014/main" val="262526913"/>
                    </a:ext>
                  </a:extLst>
                </a:gridCol>
                <a:gridCol w="2689733">
                  <a:extLst>
                    <a:ext uri="{9D8B030D-6E8A-4147-A177-3AD203B41FA5}">
                      <a16:colId xmlns:a16="http://schemas.microsoft.com/office/drawing/2014/main" val="23798119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/>
                        <a:t>Model</a:t>
                      </a:r>
                      <a:endParaRPr lang="en-US" sz="2200" dirty="0"/>
                    </a:p>
                  </a:txBody>
                  <a:tcPr marL="95698" marR="95698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With BP</a:t>
                      </a:r>
                      <a:endParaRPr lang="en-US" sz="2200" dirty="0"/>
                    </a:p>
                  </a:txBody>
                  <a:tcPr marL="95698" marR="95698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Without BP</a:t>
                      </a:r>
                      <a:endParaRPr lang="en-US" sz="2200" dirty="0"/>
                    </a:p>
                  </a:txBody>
                  <a:tcPr marL="95698" marR="95698"/>
                </a:tc>
                <a:extLst>
                  <a:ext uri="{0D108BD9-81ED-4DB2-BD59-A6C34878D82A}">
                    <a16:rowId xmlns:a16="http://schemas.microsoft.com/office/drawing/2014/main" val="3563903768"/>
                  </a:ext>
                </a:extLst>
              </a:tr>
              <a:tr h="380809">
                <a:tc>
                  <a:txBody>
                    <a:bodyPr/>
                    <a:lstStyle/>
                    <a:p>
                      <a:r>
                        <a:rPr lang="en-US" sz="2200"/>
                        <a:t>Random Forest</a:t>
                      </a:r>
                      <a:endParaRPr lang="en-US" sz="2200" dirty="0"/>
                    </a:p>
                  </a:txBody>
                  <a:tcPr marL="95698" marR="95698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~0.92</a:t>
                      </a:r>
                      <a:endParaRPr lang="en-US" sz="2200" dirty="0"/>
                    </a:p>
                  </a:txBody>
                  <a:tcPr marL="95698" marR="95698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~0.89</a:t>
                      </a:r>
                    </a:p>
                  </a:txBody>
                  <a:tcPr marL="95698" marR="95698"/>
                </a:tc>
                <a:extLst>
                  <a:ext uri="{0D108BD9-81ED-4DB2-BD59-A6C34878D82A}">
                    <a16:rowId xmlns:a16="http://schemas.microsoft.com/office/drawing/2014/main" val="468133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/>
                        <a:t>Gradient Boosting</a:t>
                      </a:r>
                      <a:endParaRPr lang="en-US" sz="2200" dirty="0"/>
                    </a:p>
                  </a:txBody>
                  <a:tcPr marL="95698" marR="95698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~0.93</a:t>
                      </a:r>
                      <a:endParaRPr lang="en-US" sz="2200" dirty="0"/>
                    </a:p>
                  </a:txBody>
                  <a:tcPr marL="95698" marR="95698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~0.86</a:t>
                      </a:r>
                    </a:p>
                  </a:txBody>
                  <a:tcPr marL="95698" marR="95698"/>
                </a:tc>
                <a:extLst>
                  <a:ext uri="{0D108BD9-81ED-4DB2-BD59-A6C34878D82A}">
                    <a16:rowId xmlns:a16="http://schemas.microsoft.com/office/drawing/2014/main" val="3232904705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AF28E-80D4-26D2-56F1-676A83353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78913" y="3224953"/>
            <a:ext cx="8069198" cy="3633047"/>
          </a:xfrm>
        </p:spPr>
        <p:txBody>
          <a:bodyPr>
            <a:normAutofit/>
          </a:bodyPr>
          <a:lstStyle/>
          <a:p>
            <a:r>
              <a:rPr lang="en-US" sz="2200" dirty="0"/>
              <a:t>Model performance decreases without BP variables</a:t>
            </a:r>
          </a:p>
          <a:p>
            <a:r>
              <a:rPr lang="en-US" sz="2200" dirty="0"/>
              <a:t>Models still perform well</a:t>
            </a:r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Key insight:</a:t>
            </a:r>
          </a:p>
          <a:p>
            <a:pPr marL="0" indent="0">
              <a:buNone/>
            </a:pPr>
            <a:r>
              <a:rPr lang="en-US" sz="2200" dirty="0"/>
              <a:t>Other health variables also predict risk</a:t>
            </a:r>
          </a:p>
        </p:txBody>
      </p:sp>
    </p:spTree>
    <p:extLst>
      <p:ext uri="{BB962C8B-B14F-4D97-AF65-F5344CB8AC3E}">
        <p14:creationId xmlns:p14="http://schemas.microsoft.com/office/powerpoint/2010/main" val="2150649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929F-5D9E-A324-D9A9-F56069CB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K-Nearest Neighbors (KNN)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3CDBB-07FD-CAC5-4891-03868C57A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Predicts based on similar individuals</a:t>
            </a:r>
          </a:p>
          <a:p>
            <a:r>
              <a:rPr lang="en-US" sz="2200" dirty="0"/>
              <a:t>Best performance at K = 7</a:t>
            </a:r>
          </a:p>
          <a:p>
            <a:r>
              <a:rPr lang="en-US" sz="2200" dirty="0"/>
              <a:t>Accuracy: ~0.89</a:t>
            </a:r>
          </a:p>
          <a:p>
            <a:r>
              <a:rPr lang="en-US" sz="2200" dirty="0"/>
              <a:t>Lower recall (~0.73)</a:t>
            </a:r>
          </a:p>
          <a:p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Takeaway:</a:t>
            </a:r>
            <a:br>
              <a:rPr lang="en-US" sz="2200" dirty="0"/>
            </a:br>
            <a:r>
              <a:rPr lang="en-US" sz="2200" dirty="0"/>
              <a:t>Distance-based models struggle with complex data</a:t>
            </a:r>
          </a:p>
        </p:txBody>
      </p:sp>
    </p:spTree>
    <p:extLst>
      <p:ext uri="{BB962C8B-B14F-4D97-AF65-F5344CB8AC3E}">
        <p14:creationId xmlns:p14="http://schemas.microsoft.com/office/powerpoint/2010/main" val="3495266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60708-94BD-ACED-CE98-8A33FF1E5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Clustering Results (K-Means)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77DB8-A204-D050-9E76-83B41C193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200" dirty="0"/>
              <a:t>Identified 2 key groups of individuals</a:t>
            </a:r>
          </a:p>
          <a:p>
            <a:r>
              <a:rPr lang="en-US" sz="2200" dirty="0"/>
              <a:t>Based on health characteristics</a:t>
            </a:r>
          </a:p>
          <a:p>
            <a:r>
              <a:rPr lang="en-US" sz="2200" dirty="0"/>
              <a:t>Found:</a:t>
            </a:r>
          </a:p>
          <a:p>
            <a:pPr lvl="1"/>
            <a:r>
              <a:rPr lang="en-US" sz="2000" dirty="0"/>
              <a:t>Lower-risk group</a:t>
            </a:r>
          </a:p>
          <a:p>
            <a:pPr lvl="1"/>
            <a:r>
              <a:rPr lang="en-US" sz="2000" dirty="0"/>
              <a:t>Higher-risk group</a:t>
            </a:r>
          </a:p>
          <a:p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Key insight:</a:t>
            </a:r>
          </a:p>
          <a:p>
            <a:pPr marL="0" indent="0">
              <a:buNone/>
            </a:pPr>
            <a:r>
              <a:rPr lang="en-US" sz="2200" dirty="0"/>
              <a:t>Natural groupings exist without using labels</a:t>
            </a:r>
          </a:p>
        </p:txBody>
      </p:sp>
    </p:spTree>
    <p:extLst>
      <p:ext uri="{BB962C8B-B14F-4D97-AF65-F5344CB8AC3E}">
        <p14:creationId xmlns:p14="http://schemas.microsoft.com/office/powerpoint/2010/main" val="400364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48867-C441-4736-2A47-E92DF9477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25FE5-012E-7DF8-1D66-621E43FBB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Machine learning can predict hypertension risk</a:t>
            </a:r>
          </a:p>
          <a:p>
            <a:r>
              <a:rPr lang="en-US" sz="2200" dirty="0"/>
              <a:t>Gradient Boosting performed best</a:t>
            </a:r>
          </a:p>
          <a:p>
            <a:r>
              <a:rPr lang="en-US" sz="2200" dirty="0"/>
              <a:t>Blood pressure is important, but not required</a:t>
            </a:r>
          </a:p>
          <a:p>
            <a:r>
              <a:rPr lang="en-US" sz="2200" dirty="0"/>
              <a:t>Other health factors contribute to prediction</a:t>
            </a:r>
          </a:p>
          <a:p>
            <a:r>
              <a:rPr lang="en-US" sz="2200" dirty="0"/>
              <a:t>Can support early risk identification and preventative care strategies</a:t>
            </a:r>
          </a:p>
        </p:txBody>
      </p:sp>
    </p:spTree>
    <p:extLst>
      <p:ext uri="{BB962C8B-B14F-4D97-AF65-F5344CB8AC3E}">
        <p14:creationId xmlns:p14="http://schemas.microsoft.com/office/powerpoint/2010/main" val="231369864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51</TotalTime>
  <Words>297</Words>
  <Application>Microsoft Office PowerPoint</Application>
  <PresentationFormat>Widescreen</PresentationFormat>
  <Paragraphs>78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Gill Sans MT</vt:lpstr>
      <vt:lpstr>Wingdings 2</vt:lpstr>
      <vt:lpstr>Dividend</vt:lpstr>
      <vt:lpstr>Predicting Cardiometabolic Risk Using Machine Learning</vt:lpstr>
      <vt:lpstr>Problem</vt:lpstr>
      <vt:lpstr>Dataset</vt:lpstr>
      <vt:lpstr>Approach</vt:lpstr>
      <vt:lpstr>Models Used</vt:lpstr>
      <vt:lpstr>Model Performance </vt:lpstr>
      <vt:lpstr>Impact of Blood Pressure Variables</vt:lpstr>
      <vt:lpstr>K-Nearest Neighbors (KNN)</vt:lpstr>
      <vt:lpstr>Clustering Results (K-Means)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ellie landoch</dc:creator>
  <cp:lastModifiedBy>ellie landoch</cp:lastModifiedBy>
  <cp:revision>1</cp:revision>
  <dcterms:created xsi:type="dcterms:W3CDTF">2026-04-28T00:45:14Z</dcterms:created>
  <dcterms:modified xsi:type="dcterms:W3CDTF">2026-04-28T01:37:56Z</dcterms:modified>
</cp:coreProperties>
</file>
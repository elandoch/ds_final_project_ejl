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7"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2F49"/>
    <a:srgbClr val="ECAAB5"/>
    <a:srgbClr val="F2C6CD"/>
    <a:srgbClr val="EFBBC4"/>
    <a:srgbClr val="E7EAF9"/>
    <a:srgbClr val="E7E8F9"/>
    <a:srgbClr val="DB6377"/>
    <a:srgbClr val="E99FAB"/>
    <a:srgbClr val="9CA1E4"/>
    <a:srgbClr val="BDC0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9B4AC4-3EE4-412D-8BE9-622093B2E322}" v="52" dt="2026-03-19T06:58:33.2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626" autoAdjust="0"/>
  </p:normalViewPr>
  <p:slideViewPr>
    <p:cSldViewPr snapToGrid="0" snapToObjects="1" showGuides="1">
      <p:cViewPr>
        <p:scale>
          <a:sx n="13" d="100"/>
          <a:sy n="13" d="100"/>
        </p:scale>
        <p:origin x="1708" y="256"/>
      </p:cViewPr>
      <p:guideLst>
        <p:guide orient="horz" pos="3318"/>
        <p:guide orient="horz" pos="288"/>
        <p:guide orient="horz" pos="20160"/>
        <p:guide orient="horz"/>
        <p:guide pos="264"/>
        <p:guide pos="27384"/>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ie landoch" userId="4aa5fccd772a899f" providerId="LiveId" clId="{9E5F4F78-D0C1-40C0-9520-8CDAB5AA6FD0}"/>
    <pc:docChg chg="undo redo custSel modSld">
      <pc:chgData name="ellie landoch" userId="4aa5fccd772a899f" providerId="LiveId" clId="{9E5F4F78-D0C1-40C0-9520-8CDAB5AA6FD0}" dt="2026-03-19T06:59:44.978" v="2678" actId="1076"/>
      <pc:docMkLst>
        <pc:docMk/>
      </pc:docMkLst>
      <pc:sldChg chg="addSp delSp modSp mod">
        <pc:chgData name="ellie landoch" userId="4aa5fccd772a899f" providerId="LiveId" clId="{9E5F4F78-D0C1-40C0-9520-8CDAB5AA6FD0}" dt="2026-03-19T06:59:44.978" v="2678" actId="1076"/>
        <pc:sldMkLst>
          <pc:docMk/>
          <pc:sldMk cId="783191702" sldId="257"/>
        </pc:sldMkLst>
        <pc:spChg chg="mod">
          <ac:chgData name="ellie landoch" userId="4aa5fccd772a899f" providerId="LiveId" clId="{9E5F4F78-D0C1-40C0-9520-8CDAB5AA6FD0}" dt="2026-03-19T06:51:34.167" v="2343" actId="1036"/>
          <ac:spMkLst>
            <pc:docMk/>
            <pc:sldMk cId="783191702" sldId="257"/>
            <ac:spMk id="2" creationId="{5FEA6AA6-BD85-AD0B-C902-87D5B6432FDF}"/>
          </ac:spMkLst>
        </pc:spChg>
        <pc:spChg chg="mod">
          <ac:chgData name="ellie landoch" userId="4aa5fccd772a899f" providerId="LiveId" clId="{9E5F4F78-D0C1-40C0-9520-8CDAB5AA6FD0}" dt="2026-03-19T06:51:40.546" v="2352" actId="1036"/>
          <ac:spMkLst>
            <pc:docMk/>
            <pc:sldMk cId="783191702" sldId="257"/>
            <ac:spMk id="3" creationId="{639C126B-D2BA-66A3-9731-74D6C4860DDA}"/>
          </ac:spMkLst>
        </pc:spChg>
        <pc:spChg chg="mod">
          <ac:chgData name="ellie landoch" userId="4aa5fccd772a899f" providerId="LiveId" clId="{9E5F4F78-D0C1-40C0-9520-8CDAB5AA6FD0}" dt="2026-03-19T06:51:47.706" v="2365" actId="1036"/>
          <ac:spMkLst>
            <pc:docMk/>
            <pc:sldMk cId="783191702" sldId="257"/>
            <ac:spMk id="4" creationId="{0D5D039B-BE3D-0F67-3970-440F662D2B72}"/>
          </ac:spMkLst>
        </pc:spChg>
        <pc:spChg chg="mod">
          <ac:chgData name="ellie landoch" userId="4aa5fccd772a899f" providerId="LiveId" clId="{9E5F4F78-D0C1-40C0-9520-8CDAB5AA6FD0}" dt="2026-03-19T06:51:56.993" v="2381" actId="1035"/>
          <ac:spMkLst>
            <pc:docMk/>
            <pc:sldMk cId="783191702" sldId="257"/>
            <ac:spMk id="5" creationId="{6025AE47-AB77-9AD0-4210-92FC3BC23F3A}"/>
          </ac:spMkLst>
        </pc:spChg>
        <pc:spChg chg="mod">
          <ac:chgData name="ellie landoch" userId="4aa5fccd772a899f" providerId="LiveId" clId="{9E5F4F78-D0C1-40C0-9520-8CDAB5AA6FD0}" dt="2026-03-19T06:32:38.053" v="2097" actId="1076"/>
          <ac:spMkLst>
            <pc:docMk/>
            <pc:sldMk cId="783191702" sldId="257"/>
            <ac:spMk id="8" creationId="{A8F4639E-D3F1-071B-81DA-0CC15530635B}"/>
          </ac:spMkLst>
        </pc:spChg>
        <pc:spChg chg="add mod">
          <ac:chgData name="ellie landoch" userId="4aa5fccd772a899f" providerId="LiveId" clId="{9E5F4F78-D0C1-40C0-9520-8CDAB5AA6FD0}" dt="2026-03-19T06:08:30.727" v="750" actId="1076"/>
          <ac:spMkLst>
            <pc:docMk/>
            <pc:sldMk cId="783191702" sldId="257"/>
            <ac:spMk id="9" creationId="{9FD2A266-5C90-02D3-6F73-F149717CAA27}"/>
          </ac:spMkLst>
        </pc:spChg>
        <pc:spChg chg="mod">
          <ac:chgData name="ellie landoch" userId="4aa5fccd772a899f" providerId="LiveId" clId="{9E5F4F78-D0C1-40C0-9520-8CDAB5AA6FD0}" dt="2026-03-19T06:52:06.311" v="2401" actId="1035"/>
          <ac:spMkLst>
            <pc:docMk/>
            <pc:sldMk cId="783191702" sldId="257"/>
            <ac:spMk id="10" creationId="{D8B1DE38-E380-8703-D996-426ABB829DE8}"/>
          </ac:spMkLst>
        </pc:spChg>
        <pc:spChg chg="add mod">
          <ac:chgData name="ellie landoch" userId="4aa5fccd772a899f" providerId="LiveId" clId="{9E5F4F78-D0C1-40C0-9520-8CDAB5AA6FD0}" dt="2026-03-19T06:51:21.294" v="2320" actId="1035"/>
          <ac:spMkLst>
            <pc:docMk/>
            <pc:sldMk cId="783191702" sldId="257"/>
            <ac:spMk id="11" creationId="{4F7B78C7-03E8-E2BB-E369-C2CB168258F4}"/>
          </ac:spMkLst>
        </pc:spChg>
        <pc:spChg chg="mod">
          <ac:chgData name="ellie landoch" userId="4aa5fccd772a899f" providerId="LiveId" clId="{9E5F4F78-D0C1-40C0-9520-8CDAB5AA6FD0}" dt="2026-03-19T06:59:32.510" v="2674" actId="1076"/>
          <ac:spMkLst>
            <pc:docMk/>
            <pc:sldMk cId="783191702" sldId="257"/>
            <ac:spMk id="13" creationId="{341B815A-0CE0-43FD-B9F5-C98B31727731}"/>
          </ac:spMkLst>
        </pc:spChg>
        <pc:spChg chg="mod">
          <ac:chgData name="ellie landoch" userId="4aa5fccd772a899f" providerId="LiveId" clId="{9E5F4F78-D0C1-40C0-9520-8CDAB5AA6FD0}" dt="2026-03-19T06:32:55.969" v="2101" actId="1076"/>
          <ac:spMkLst>
            <pc:docMk/>
            <pc:sldMk cId="783191702" sldId="257"/>
            <ac:spMk id="15" creationId="{E567A67D-1A00-B00C-297C-E0C0EF27134B}"/>
          </ac:spMkLst>
        </pc:spChg>
        <pc:spChg chg="add mod">
          <ac:chgData name="ellie landoch" userId="4aa5fccd772a899f" providerId="LiveId" clId="{9E5F4F78-D0C1-40C0-9520-8CDAB5AA6FD0}" dt="2026-03-19T06:16:33.763" v="805"/>
          <ac:spMkLst>
            <pc:docMk/>
            <pc:sldMk cId="783191702" sldId="257"/>
            <ac:spMk id="20" creationId="{CE39ACBE-1E25-B9CE-FECE-23E27EE3AE71}"/>
          </ac:spMkLst>
        </pc:spChg>
        <pc:spChg chg="mod">
          <ac:chgData name="ellie landoch" userId="4aa5fccd772a899f" providerId="LiveId" clId="{9E5F4F78-D0C1-40C0-9520-8CDAB5AA6FD0}" dt="2026-03-19T06:59:20.872" v="2673" actId="1076"/>
          <ac:spMkLst>
            <pc:docMk/>
            <pc:sldMk cId="783191702" sldId="257"/>
            <ac:spMk id="21" creationId="{4919FEE4-306C-DE60-48A7-AB8B9D61EF1E}"/>
          </ac:spMkLst>
        </pc:spChg>
        <pc:spChg chg="mod">
          <ac:chgData name="ellie landoch" userId="4aa5fccd772a899f" providerId="LiveId" clId="{9E5F4F78-D0C1-40C0-9520-8CDAB5AA6FD0}" dt="2026-03-19T06:53:54.641" v="2464" actId="20577"/>
          <ac:spMkLst>
            <pc:docMk/>
            <pc:sldMk cId="783191702" sldId="257"/>
            <ac:spMk id="23" creationId="{5A22DD32-B987-DE5B-BEAE-3C1E2DFBD6C8}"/>
          </ac:spMkLst>
        </pc:spChg>
        <pc:spChg chg="mod">
          <ac:chgData name="ellie landoch" userId="4aa5fccd772a899f" providerId="LiveId" clId="{9E5F4F78-D0C1-40C0-9520-8CDAB5AA6FD0}" dt="2026-03-19T06:54:57.808" v="2648" actId="20577"/>
          <ac:spMkLst>
            <pc:docMk/>
            <pc:sldMk cId="783191702" sldId="257"/>
            <ac:spMk id="24" creationId="{729397F6-8E29-E1E2-515C-BA3E745ED5E3}"/>
          </ac:spMkLst>
        </pc:spChg>
        <pc:spChg chg="mod">
          <ac:chgData name="ellie landoch" userId="4aa5fccd772a899f" providerId="LiveId" clId="{9E5F4F78-D0C1-40C0-9520-8CDAB5AA6FD0}" dt="2026-03-19T06:09:43.179" v="760" actId="14100"/>
          <ac:spMkLst>
            <pc:docMk/>
            <pc:sldMk cId="783191702" sldId="257"/>
            <ac:spMk id="27" creationId="{2C95181A-8A69-FEBB-F488-5C6E0EF2665F}"/>
          </ac:spMkLst>
        </pc:spChg>
        <pc:spChg chg="add mod">
          <ac:chgData name="ellie landoch" userId="4aa5fccd772a899f" providerId="LiveId" clId="{9E5F4F78-D0C1-40C0-9520-8CDAB5AA6FD0}" dt="2026-03-19T06:17:37.589" v="815" actId="14100"/>
          <ac:spMkLst>
            <pc:docMk/>
            <pc:sldMk cId="783191702" sldId="257"/>
            <ac:spMk id="28" creationId="{B7953955-07DC-7770-29B7-449E07F4C1B7}"/>
          </ac:spMkLst>
        </pc:spChg>
        <pc:spChg chg="mod">
          <ac:chgData name="ellie landoch" userId="4aa5fccd772a899f" providerId="LiveId" clId="{9E5F4F78-D0C1-40C0-9520-8CDAB5AA6FD0}" dt="2026-03-19T06:50:50.249" v="2278" actId="20577"/>
          <ac:spMkLst>
            <pc:docMk/>
            <pc:sldMk cId="783191702" sldId="257"/>
            <ac:spMk id="87" creationId="{B51B601C-AA87-C448-96E5-5B6D1C8B4249}"/>
          </ac:spMkLst>
        </pc:spChg>
        <pc:spChg chg="mod">
          <ac:chgData name="ellie landoch" userId="4aa5fccd772a899f" providerId="LiveId" clId="{9E5F4F78-D0C1-40C0-9520-8CDAB5AA6FD0}" dt="2026-03-19T06:50:57.200" v="2293" actId="1036"/>
          <ac:spMkLst>
            <pc:docMk/>
            <pc:sldMk cId="783191702" sldId="257"/>
            <ac:spMk id="88" creationId="{ED6BA1F4-974B-AA4D-BF12-3F1211493C26}"/>
          </ac:spMkLst>
        </pc:spChg>
        <pc:spChg chg="mod">
          <ac:chgData name="ellie landoch" userId="4aa5fccd772a899f" providerId="LiveId" clId="{9E5F4F78-D0C1-40C0-9520-8CDAB5AA6FD0}" dt="2026-03-19T06:51:26.582" v="2328" actId="1036"/>
          <ac:spMkLst>
            <pc:docMk/>
            <pc:sldMk cId="783191702" sldId="257"/>
            <ac:spMk id="89" creationId="{52482D9A-DD3A-3E4D-B5A8-692345FB258E}"/>
          </ac:spMkLst>
        </pc:spChg>
        <pc:spChg chg="mod">
          <ac:chgData name="ellie landoch" userId="4aa5fccd772a899f" providerId="LiveId" clId="{9E5F4F78-D0C1-40C0-9520-8CDAB5AA6FD0}" dt="2026-03-19T06:24:37.265" v="1136" actId="255"/>
          <ac:spMkLst>
            <pc:docMk/>
            <pc:sldMk cId="783191702" sldId="257"/>
            <ac:spMk id="90" creationId="{B20DAE73-7398-3541-9047-3EF06FA94C0B}"/>
          </ac:spMkLst>
        </pc:spChg>
        <pc:spChg chg="mod">
          <ac:chgData name="ellie landoch" userId="4aa5fccd772a899f" providerId="LiveId" clId="{9E5F4F78-D0C1-40C0-9520-8CDAB5AA6FD0}" dt="2026-03-19T06:01:38.100" v="79" actId="1076"/>
          <ac:spMkLst>
            <pc:docMk/>
            <pc:sldMk cId="783191702" sldId="257"/>
            <ac:spMk id="91" creationId="{6A984DC8-C031-724D-9B33-B7D232AE5C5D}"/>
          </ac:spMkLst>
        </pc:spChg>
        <pc:spChg chg="mod">
          <ac:chgData name="ellie landoch" userId="4aa5fccd772a899f" providerId="LiveId" clId="{9E5F4F78-D0C1-40C0-9520-8CDAB5AA6FD0}" dt="2026-03-19T06:57:29.352" v="2653" actId="20577"/>
          <ac:spMkLst>
            <pc:docMk/>
            <pc:sldMk cId="783191702" sldId="257"/>
            <ac:spMk id="95" creationId="{C425D03E-96C1-804B-9990-78B2B8349537}"/>
          </ac:spMkLst>
        </pc:spChg>
        <pc:spChg chg="mod">
          <ac:chgData name="ellie landoch" userId="4aa5fccd772a899f" providerId="LiveId" clId="{9E5F4F78-D0C1-40C0-9520-8CDAB5AA6FD0}" dt="2026-03-19T06:31:26.024" v="2088" actId="1076"/>
          <ac:spMkLst>
            <pc:docMk/>
            <pc:sldMk cId="783191702" sldId="257"/>
            <ac:spMk id="96" creationId="{59AA662D-8D39-F746-9987-521130222D8C}"/>
          </ac:spMkLst>
        </pc:spChg>
        <pc:spChg chg="mod">
          <ac:chgData name="ellie landoch" userId="4aa5fccd772a899f" providerId="LiveId" clId="{9E5F4F78-D0C1-40C0-9520-8CDAB5AA6FD0}" dt="2026-03-19T06:31:32.283" v="2089" actId="1076"/>
          <ac:spMkLst>
            <pc:docMk/>
            <pc:sldMk cId="783191702" sldId="257"/>
            <ac:spMk id="97" creationId="{C9838796-29D9-8A4D-9392-4C51FAC609C9}"/>
          </ac:spMkLst>
        </pc:spChg>
        <pc:spChg chg="mod">
          <ac:chgData name="ellie landoch" userId="4aa5fccd772a899f" providerId="LiveId" clId="{9E5F4F78-D0C1-40C0-9520-8CDAB5AA6FD0}" dt="2026-03-19T06:32:51.049" v="2100" actId="1076"/>
          <ac:spMkLst>
            <pc:docMk/>
            <pc:sldMk cId="783191702" sldId="257"/>
            <ac:spMk id="98" creationId="{5FF1C2DE-3A2B-6E4D-A87A-F041F0046A3A}"/>
          </ac:spMkLst>
        </pc:spChg>
        <pc:spChg chg="mod">
          <ac:chgData name="ellie landoch" userId="4aa5fccd772a899f" providerId="LiveId" clId="{9E5F4F78-D0C1-40C0-9520-8CDAB5AA6FD0}" dt="2026-03-19T06:32:43.555" v="2098" actId="1076"/>
          <ac:spMkLst>
            <pc:docMk/>
            <pc:sldMk cId="783191702" sldId="257"/>
            <ac:spMk id="99" creationId="{D5A02CF7-A081-4343-8CE7-EA107BE5C7F0}"/>
          </ac:spMkLst>
        </pc:spChg>
        <pc:spChg chg="mod">
          <ac:chgData name="ellie landoch" userId="4aa5fccd772a899f" providerId="LiveId" clId="{9E5F4F78-D0C1-40C0-9520-8CDAB5AA6FD0}" dt="2026-03-19T06:51:30.322" v="2335" actId="1036"/>
          <ac:spMkLst>
            <pc:docMk/>
            <pc:sldMk cId="783191702" sldId="257"/>
            <ac:spMk id="100" creationId="{E1D63EAF-47F9-774B-9E42-7734CFFDC91E}"/>
          </ac:spMkLst>
        </pc:spChg>
        <pc:spChg chg="mod">
          <ac:chgData name="ellie landoch" userId="4aa5fccd772a899f" providerId="LiveId" clId="{9E5F4F78-D0C1-40C0-9520-8CDAB5AA6FD0}" dt="2026-03-19T06:59:17.656" v="2671" actId="1076"/>
          <ac:spMkLst>
            <pc:docMk/>
            <pc:sldMk cId="783191702" sldId="257"/>
            <ac:spMk id="101" creationId="{3F1E5495-EDC6-8943-BA21-C1F3009450C4}"/>
          </ac:spMkLst>
        </pc:spChg>
        <pc:spChg chg="mod">
          <ac:chgData name="ellie landoch" userId="4aa5fccd772a899f" providerId="LiveId" clId="{9E5F4F78-D0C1-40C0-9520-8CDAB5AA6FD0}" dt="2026-03-19T06:59:13.107" v="2670" actId="1076"/>
          <ac:spMkLst>
            <pc:docMk/>
            <pc:sldMk cId="783191702" sldId="257"/>
            <ac:spMk id="102" creationId="{54FAC610-AA8B-4244-8F06-6E0DE1A9D297}"/>
          </ac:spMkLst>
        </pc:spChg>
        <pc:spChg chg="mod">
          <ac:chgData name="ellie landoch" userId="4aa5fccd772a899f" providerId="LiveId" clId="{9E5F4F78-D0C1-40C0-9520-8CDAB5AA6FD0}" dt="2026-03-19T06:59:07.746" v="2669" actId="1076"/>
          <ac:spMkLst>
            <pc:docMk/>
            <pc:sldMk cId="783191702" sldId="257"/>
            <ac:spMk id="103" creationId="{95FDDD8F-0EE1-3F4F-AEB9-C6A6DBC65968}"/>
          </ac:spMkLst>
        </pc:spChg>
        <pc:graphicFrameChg chg="mod">
          <ac:chgData name="ellie landoch" userId="4aa5fccd772a899f" providerId="LiveId" clId="{9E5F4F78-D0C1-40C0-9520-8CDAB5AA6FD0}" dt="2026-03-19T06:52:11.124" v="2406" actId="1036"/>
          <ac:graphicFrameMkLst>
            <pc:docMk/>
            <pc:sldMk cId="783191702" sldId="257"/>
            <ac:graphicFrameMk id="6" creationId="{D0F8F378-8048-8F76-972E-C5A96193CD2A}"/>
          </ac:graphicFrameMkLst>
        </pc:graphicFrameChg>
        <pc:picChg chg="mod">
          <ac:chgData name="ellie landoch" userId="4aa5fccd772a899f" providerId="LiveId" clId="{9E5F4F78-D0C1-40C0-9520-8CDAB5AA6FD0}" dt="2026-03-19T06:52:01.781" v="2391" actId="1036"/>
          <ac:picMkLst>
            <pc:docMk/>
            <pc:sldMk cId="783191702" sldId="257"/>
            <ac:picMk id="16" creationId="{5EA7AA52-8DC8-F4BA-C0BB-7AA91DF7FAC1}"/>
          </ac:picMkLst>
        </pc:picChg>
        <pc:picChg chg="mod">
          <ac:chgData name="ellie landoch" userId="4aa5fccd772a899f" providerId="LiveId" clId="{9E5F4F78-D0C1-40C0-9520-8CDAB5AA6FD0}" dt="2026-03-19T06:58:53.920" v="2667" actId="1076"/>
          <ac:picMkLst>
            <pc:docMk/>
            <pc:sldMk cId="783191702" sldId="257"/>
            <ac:picMk id="17" creationId="{E80A9029-0131-D564-EE48-C262B678605F}"/>
          </ac:picMkLst>
        </pc:picChg>
        <pc:picChg chg="add mod">
          <ac:chgData name="ellie landoch" userId="4aa5fccd772a899f" providerId="LiveId" clId="{9E5F4F78-D0C1-40C0-9520-8CDAB5AA6FD0}" dt="2026-03-19T06:59:44.978" v="2678" actId="1076"/>
          <ac:picMkLst>
            <pc:docMk/>
            <pc:sldMk cId="783191702" sldId="257"/>
            <ac:picMk id="29" creationId="{357032E1-565B-080F-BA9B-4A775DB7CF13}"/>
          </ac:picMkLst>
        </pc:picChg>
        <pc:picChg chg="add mod">
          <ac:chgData name="ellie landoch" userId="4aa5fccd772a899f" providerId="LiveId" clId="{9E5F4F78-D0C1-40C0-9520-8CDAB5AA6FD0}" dt="2026-03-19T06:59:39.361" v="2676" actId="1076"/>
          <ac:picMkLst>
            <pc:docMk/>
            <pc:sldMk cId="783191702" sldId="257"/>
            <ac:picMk id="31" creationId="{644CB5B1-2712-9322-43B8-8309E394654F}"/>
          </ac:picMkLst>
        </pc:picChg>
        <pc:picChg chg="del mod">
          <ac:chgData name="ellie landoch" userId="4aa5fccd772a899f" providerId="LiveId" clId="{9E5F4F78-D0C1-40C0-9520-8CDAB5AA6FD0}" dt="2026-03-19T06:16:15.292" v="800" actId="478"/>
          <ac:picMkLst>
            <pc:docMk/>
            <pc:sldMk cId="783191702" sldId="257"/>
            <ac:picMk id="32" creationId="{D01F0FA3-4BB0-E954-62B6-22171AD91C52}"/>
          </ac:picMkLst>
        </pc:picChg>
        <pc:picChg chg="del mod">
          <ac:chgData name="ellie landoch" userId="4aa5fccd772a899f" providerId="LiveId" clId="{9E5F4F78-D0C1-40C0-9520-8CDAB5AA6FD0}" dt="2026-03-19T06:16:17.050" v="801" actId="478"/>
          <ac:picMkLst>
            <pc:docMk/>
            <pc:sldMk cId="783191702" sldId="257"/>
            <ac:picMk id="42" creationId="{59FFDF7F-8947-1064-2B50-16A16F06C65E}"/>
          </ac:picMkLst>
        </pc:picChg>
        <pc:picChg chg="del mod">
          <ac:chgData name="ellie landoch" userId="4aa5fccd772a899f" providerId="LiveId" clId="{9E5F4F78-D0C1-40C0-9520-8CDAB5AA6FD0}" dt="2026-03-19T06:16:21.271" v="804" actId="478"/>
          <ac:picMkLst>
            <pc:docMk/>
            <pc:sldMk cId="783191702" sldId="257"/>
            <ac:picMk id="43" creationId="{9D43DE85-D934-A390-FE13-B19DAED47356}"/>
          </ac:picMkLst>
        </pc:picChg>
        <pc:picChg chg="add del mod">
          <ac:chgData name="ellie landoch" userId="4aa5fccd772a899f" providerId="LiveId" clId="{9E5F4F78-D0C1-40C0-9520-8CDAB5AA6FD0}" dt="2026-03-19T06:10:52.683" v="767" actId="478"/>
          <ac:picMkLst>
            <pc:docMk/>
            <pc:sldMk cId="783191702" sldId="257"/>
            <ac:picMk id="1026" creationId="{04A67C01-7BE0-C834-2667-0A83D4A8F9F0}"/>
          </ac:picMkLst>
        </pc:picChg>
        <pc:picChg chg="add del mod">
          <ac:chgData name="ellie landoch" userId="4aa5fccd772a899f" providerId="LiveId" clId="{9E5F4F78-D0C1-40C0-9520-8CDAB5AA6FD0}" dt="2026-03-19T06:12:07.972" v="773" actId="478"/>
          <ac:picMkLst>
            <pc:docMk/>
            <pc:sldMk cId="783191702" sldId="257"/>
            <ac:picMk id="1028" creationId="{20D81EDE-94BC-DD3F-7D09-5EDCFC6C2096}"/>
          </ac:picMkLst>
        </pc:picChg>
        <pc:picChg chg="add del">
          <ac:chgData name="ellie landoch" userId="4aa5fccd772a899f" providerId="LiveId" clId="{9E5F4F78-D0C1-40C0-9520-8CDAB5AA6FD0}" dt="2026-03-19T06:12:35.868" v="775" actId="478"/>
          <ac:picMkLst>
            <pc:docMk/>
            <pc:sldMk cId="783191702" sldId="257"/>
            <ac:picMk id="1030" creationId="{AB0DB44D-FE19-CDCB-C938-AA984E9A28C6}"/>
          </ac:picMkLst>
        </pc:picChg>
        <pc:picChg chg="add mod">
          <ac:chgData name="ellie landoch" userId="4aa5fccd772a899f" providerId="LiveId" clId="{9E5F4F78-D0C1-40C0-9520-8CDAB5AA6FD0}" dt="2026-03-19T06:25:32.333" v="1235"/>
          <ac:picMkLst>
            <pc:docMk/>
            <pc:sldMk cId="783191702" sldId="257"/>
            <ac:picMk id="1032" creationId="{FEC0BE13-A85F-864A-DA63-D958862DCAAF}"/>
          </ac:picMkLst>
        </pc:picChg>
        <pc:cxnChg chg="del mod">
          <ac:chgData name="ellie landoch" userId="4aa5fccd772a899f" providerId="LiveId" clId="{9E5F4F78-D0C1-40C0-9520-8CDAB5AA6FD0}" dt="2026-03-19T06:16:19.810" v="803" actId="478"/>
          <ac:cxnSpMkLst>
            <pc:docMk/>
            <pc:sldMk cId="783191702" sldId="257"/>
            <ac:cxnSpMk id="45" creationId="{8F8955E6-EA9F-1267-2CE0-2E05337B4C14}"/>
          </ac:cxnSpMkLst>
        </pc:cxnChg>
        <pc:cxnChg chg="del mod">
          <ac:chgData name="ellie landoch" userId="4aa5fccd772a899f" providerId="LiveId" clId="{9E5F4F78-D0C1-40C0-9520-8CDAB5AA6FD0}" dt="2026-03-19T06:16:18.449" v="802" actId="478"/>
          <ac:cxnSpMkLst>
            <pc:docMk/>
            <pc:sldMk cId="783191702" sldId="257"/>
            <ac:cxnSpMk id="46" creationId="{5CB9A6AB-6E0E-CF4F-9E0F-4B1E46CFF00D}"/>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3/19/2026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3/19/2026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4096528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7EAF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936767B-D3F5-6B0A-CEF5-63BFC1DB0063}"/>
              </a:ext>
            </a:extLst>
          </p:cNvPr>
          <p:cNvSpPr/>
          <p:nvPr/>
        </p:nvSpPr>
        <p:spPr>
          <a:xfrm>
            <a:off x="21525470" y="5422525"/>
            <a:ext cx="21723241" cy="17615200"/>
          </a:xfrm>
          <a:prstGeom prst="rect">
            <a:avLst/>
          </a:prstGeom>
          <a:noFill/>
          <a:ln w="38100">
            <a:solidFill>
              <a:srgbClr val="CB2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 Placeholder 86">
            <a:extLst>
              <a:ext uri="{FF2B5EF4-FFF2-40B4-BE49-F238E27FC236}">
                <a16:creationId xmlns:a16="http://schemas.microsoft.com/office/drawing/2014/main" id="{B51B601C-AA87-C448-96E5-5B6D1C8B4249}"/>
              </a:ext>
            </a:extLst>
          </p:cNvPr>
          <p:cNvSpPr>
            <a:spLocks noGrp="1"/>
          </p:cNvSpPr>
          <p:nvPr>
            <p:ph type="body" sz="quarter" idx="10"/>
          </p:nvPr>
        </p:nvSpPr>
        <p:spPr>
          <a:xfrm>
            <a:off x="642489" y="6146984"/>
            <a:ext cx="10056813" cy="5078291"/>
          </a:xfrm>
        </p:spPr>
        <p:txBody>
          <a:bodyPr/>
          <a:lstStyle/>
          <a:p>
            <a:r>
              <a:rPr lang="en-US" sz="3000" dirty="0">
                <a:solidFill>
                  <a:schemeClr val="tx1"/>
                </a:solidFill>
              </a:rPr>
              <a:t>This project uses machine learning models to predict hypertension risk using demographic, lifestyle, and clinical health data from the NHANES dataset. Logistic regression, random forest, and gradient boosting models were developed and compared. Model performance was evaluated using accuracy, precision, recall, F1 score, and ROC curves. Gradient boosting showed the strongest performance. Results show that while blood pressure is a strong predictor, models still perform well without it, indicating that other health factors also contribute to risk prediction.</a:t>
            </a:r>
          </a:p>
        </p:txBody>
      </p:sp>
      <p:sp>
        <p:nvSpPr>
          <p:cNvPr id="88" name="Text Placeholder 87">
            <a:extLst>
              <a:ext uri="{FF2B5EF4-FFF2-40B4-BE49-F238E27FC236}">
                <a16:creationId xmlns:a16="http://schemas.microsoft.com/office/drawing/2014/main" id="{ED6BA1F4-974B-AA4D-BF12-3F1211493C26}"/>
              </a:ext>
            </a:extLst>
          </p:cNvPr>
          <p:cNvSpPr>
            <a:spLocks noGrp="1"/>
          </p:cNvSpPr>
          <p:nvPr>
            <p:ph type="body" sz="quarter" idx="11"/>
          </p:nvPr>
        </p:nvSpPr>
        <p:spPr>
          <a:xfrm>
            <a:off x="504530" y="11312232"/>
            <a:ext cx="10048875" cy="784822"/>
          </a:xfrm>
        </p:spPr>
        <p:txBody>
          <a:bodyPr/>
          <a:lstStyle/>
          <a:p>
            <a:r>
              <a:rPr lang="en-US" sz="3900" dirty="0">
                <a:solidFill>
                  <a:schemeClr val="tx1"/>
                </a:solidFill>
              </a:rPr>
              <a:t>Introduction</a:t>
            </a:r>
          </a:p>
        </p:txBody>
      </p:sp>
      <p:sp>
        <p:nvSpPr>
          <p:cNvPr id="89" name="Text Placeholder 88">
            <a:extLst>
              <a:ext uri="{FF2B5EF4-FFF2-40B4-BE49-F238E27FC236}">
                <a16:creationId xmlns:a16="http://schemas.microsoft.com/office/drawing/2014/main" id="{52482D9A-DD3A-3E4D-B5A8-692345FB258E}"/>
              </a:ext>
            </a:extLst>
          </p:cNvPr>
          <p:cNvSpPr>
            <a:spLocks noGrp="1"/>
          </p:cNvSpPr>
          <p:nvPr>
            <p:ph type="body" sz="quarter" idx="20"/>
          </p:nvPr>
        </p:nvSpPr>
        <p:spPr>
          <a:xfrm>
            <a:off x="616857" y="16897461"/>
            <a:ext cx="10050462" cy="784822"/>
          </a:xfrm>
        </p:spPr>
        <p:txBody>
          <a:bodyPr/>
          <a:lstStyle/>
          <a:p>
            <a:r>
              <a:rPr lang="en-US" sz="3900" dirty="0">
                <a:solidFill>
                  <a:schemeClr val="tx1"/>
                </a:solidFill>
              </a:rPr>
              <a:t>Objectives</a:t>
            </a:r>
          </a:p>
        </p:txBody>
      </p:sp>
      <p:sp>
        <p:nvSpPr>
          <p:cNvPr id="90" name="Text Placeholder 89">
            <a:extLst>
              <a:ext uri="{FF2B5EF4-FFF2-40B4-BE49-F238E27FC236}">
                <a16:creationId xmlns:a16="http://schemas.microsoft.com/office/drawing/2014/main" id="{B20DAE73-7398-3541-9047-3EF06FA94C0B}"/>
              </a:ext>
            </a:extLst>
          </p:cNvPr>
          <p:cNvSpPr>
            <a:spLocks noGrp="1"/>
          </p:cNvSpPr>
          <p:nvPr>
            <p:ph type="body" sz="quarter" idx="21"/>
          </p:nvPr>
        </p:nvSpPr>
        <p:spPr>
          <a:xfrm>
            <a:off x="11089776" y="6030255"/>
            <a:ext cx="10048874" cy="4801292"/>
          </a:xfrm>
        </p:spPr>
        <p:txBody>
          <a:bodyPr/>
          <a:lstStyle/>
          <a:p>
            <a:r>
              <a:rPr lang="en-US" sz="3000" b="1" dirty="0">
                <a:solidFill>
                  <a:schemeClr val="tx1"/>
                </a:solidFill>
              </a:rPr>
              <a:t>Data Preprocessing</a:t>
            </a:r>
          </a:p>
          <a:p>
            <a:pPr marL="342900" indent="-342900">
              <a:buFont typeface="Arial" panose="020B0604020202020204" pitchFamily="34" charset="0"/>
              <a:buChar char="•"/>
            </a:pPr>
            <a:r>
              <a:rPr lang="en-US" sz="3000" dirty="0">
                <a:solidFill>
                  <a:schemeClr val="tx1"/>
                </a:solidFill>
              </a:rPr>
              <a:t>Removed variables with large amounts of missing data</a:t>
            </a:r>
          </a:p>
          <a:p>
            <a:pPr marL="342900" indent="-342900">
              <a:buFont typeface="Arial" panose="020B0604020202020204" pitchFamily="34" charset="0"/>
              <a:buChar char="•"/>
            </a:pPr>
            <a:r>
              <a:rPr lang="en-US" sz="3000" dirty="0">
                <a:solidFill>
                  <a:schemeClr val="tx1"/>
                </a:solidFill>
              </a:rPr>
              <a:t>Standardized numeric variables</a:t>
            </a:r>
          </a:p>
          <a:p>
            <a:pPr marL="342900" indent="-342900">
              <a:buFont typeface="Arial" panose="020B0604020202020204" pitchFamily="34" charset="0"/>
              <a:buChar char="•"/>
            </a:pPr>
            <a:r>
              <a:rPr lang="en-US" sz="3000" dirty="0">
                <a:solidFill>
                  <a:schemeClr val="tx1"/>
                </a:solidFill>
              </a:rPr>
              <a:t>Train/test split (80/20)</a:t>
            </a:r>
          </a:p>
          <a:p>
            <a:r>
              <a:rPr lang="en-US" sz="3000" b="1" dirty="0">
                <a:solidFill>
                  <a:schemeClr val="tx1"/>
                </a:solidFill>
              </a:rPr>
              <a:t>Models</a:t>
            </a:r>
          </a:p>
          <a:p>
            <a:pPr marL="342900" indent="-342900">
              <a:buFont typeface="Arial" panose="020B0604020202020204" pitchFamily="34" charset="0"/>
              <a:buChar char="•"/>
            </a:pPr>
            <a:r>
              <a:rPr lang="en-US" sz="3000" dirty="0">
                <a:solidFill>
                  <a:schemeClr val="tx1"/>
                </a:solidFill>
              </a:rPr>
              <a:t>Logistic Regression – </a:t>
            </a:r>
            <a:r>
              <a:rPr lang="en-US" i="1" dirty="0">
                <a:solidFill>
                  <a:schemeClr val="tx1"/>
                </a:solidFill>
              </a:rPr>
              <a:t>baseline statistical model</a:t>
            </a:r>
          </a:p>
          <a:p>
            <a:pPr marL="342900" indent="-342900">
              <a:buFont typeface="Arial" panose="020B0604020202020204" pitchFamily="34" charset="0"/>
              <a:buChar char="•"/>
            </a:pPr>
            <a:r>
              <a:rPr lang="en-US" sz="3000" dirty="0">
                <a:solidFill>
                  <a:schemeClr val="tx1"/>
                </a:solidFill>
              </a:rPr>
              <a:t>Random Forest Classifier </a:t>
            </a:r>
            <a:r>
              <a:rPr lang="en-US" dirty="0">
                <a:solidFill>
                  <a:schemeClr val="tx1"/>
                </a:solidFill>
              </a:rPr>
              <a:t>– </a:t>
            </a:r>
            <a:r>
              <a:rPr lang="en-US" i="1" dirty="0">
                <a:solidFill>
                  <a:schemeClr val="tx1"/>
                </a:solidFill>
              </a:rPr>
              <a:t>ensemble of decision trees</a:t>
            </a:r>
          </a:p>
          <a:p>
            <a:pPr marL="342900" indent="-342900">
              <a:buFont typeface="Arial" panose="020B0604020202020204" pitchFamily="34" charset="0"/>
              <a:buChar char="•"/>
            </a:pPr>
            <a:r>
              <a:rPr lang="en-US" sz="3000" dirty="0">
                <a:solidFill>
                  <a:schemeClr val="tx1"/>
                </a:solidFill>
              </a:rPr>
              <a:t>Gradient Boosting – </a:t>
            </a:r>
            <a:r>
              <a:rPr lang="en-US" i="1" dirty="0">
                <a:solidFill>
                  <a:schemeClr val="tx1"/>
                </a:solidFill>
              </a:rPr>
              <a:t>sequential learning model</a:t>
            </a:r>
          </a:p>
        </p:txBody>
      </p:sp>
      <p:sp>
        <p:nvSpPr>
          <p:cNvPr id="91" name="Text Placeholder 90">
            <a:extLst>
              <a:ext uri="{FF2B5EF4-FFF2-40B4-BE49-F238E27FC236}">
                <a16:creationId xmlns:a16="http://schemas.microsoft.com/office/drawing/2014/main" id="{6A984DC8-C031-724D-9B33-B7D232AE5C5D}"/>
              </a:ext>
            </a:extLst>
          </p:cNvPr>
          <p:cNvSpPr>
            <a:spLocks noGrp="1"/>
          </p:cNvSpPr>
          <p:nvPr>
            <p:ph type="body" sz="quarter" idx="22"/>
          </p:nvPr>
        </p:nvSpPr>
        <p:spPr>
          <a:xfrm>
            <a:off x="11089917" y="5547152"/>
            <a:ext cx="10048875" cy="784822"/>
          </a:xfrm>
        </p:spPr>
        <p:txBody>
          <a:bodyPr/>
          <a:lstStyle/>
          <a:p>
            <a:r>
              <a:rPr lang="en-US" sz="3900" dirty="0">
                <a:solidFill>
                  <a:schemeClr val="tx1"/>
                </a:solidFill>
              </a:rPr>
              <a:t>Methods</a:t>
            </a:r>
            <a:r>
              <a:rPr lang="en-US" sz="3600" dirty="0">
                <a:solidFill>
                  <a:schemeClr val="tx1"/>
                </a:solidFill>
              </a:rPr>
              <a:t> </a:t>
            </a:r>
          </a:p>
        </p:txBody>
      </p:sp>
      <p:sp>
        <p:nvSpPr>
          <p:cNvPr id="92" name="Text Placeholder 91">
            <a:extLst>
              <a:ext uri="{FF2B5EF4-FFF2-40B4-BE49-F238E27FC236}">
                <a16:creationId xmlns:a16="http://schemas.microsoft.com/office/drawing/2014/main" id="{2EA51318-ADEE-ED41-AE79-D80086567C7D}"/>
              </a:ext>
            </a:extLst>
          </p:cNvPr>
          <p:cNvSpPr>
            <a:spLocks noGrp="1"/>
          </p:cNvSpPr>
          <p:nvPr>
            <p:ph type="body" sz="quarter" idx="23"/>
          </p:nvPr>
        </p:nvSpPr>
        <p:spPr>
          <a:xfrm>
            <a:off x="22013680" y="6457201"/>
            <a:ext cx="10048874" cy="923307"/>
          </a:xfrm>
        </p:spPr>
        <p:txBody>
          <a:bodyPr/>
          <a:lstStyle/>
          <a:p>
            <a:r>
              <a:rPr lang="en-US" sz="3000" b="1" dirty="0">
                <a:solidFill>
                  <a:schemeClr val="tx1"/>
                </a:solidFill>
              </a:rPr>
              <a:t>Model Performance:</a:t>
            </a:r>
          </a:p>
        </p:txBody>
      </p:sp>
      <p:sp>
        <p:nvSpPr>
          <p:cNvPr id="93" name="Text Placeholder 92">
            <a:extLst>
              <a:ext uri="{FF2B5EF4-FFF2-40B4-BE49-F238E27FC236}">
                <a16:creationId xmlns:a16="http://schemas.microsoft.com/office/drawing/2014/main" id="{38D8D04E-BA04-3645-8D54-47AEE765C8B0}"/>
              </a:ext>
            </a:extLst>
          </p:cNvPr>
          <p:cNvSpPr>
            <a:spLocks noGrp="1"/>
          </p:cNvSpPr>
          <p:nvPr>
            <p:ph type="body" sz="quarter" idx="24"/>
          </p:nvPr>
        </p:nvSpPr>
        <p:spPr>
          <a:xfrm>
            <a:off x="22015536" y="5564811"/>
            <a:ext cx="10058400" cy="784822"/>
          </a:xfrm>
        </p:spPr>
        <p:txBody>
          <a:bodyPr/>
          <a:lstStyle/>
          <a:p>
            <a:r>
              <a:rPr lang="en-US" sz="3900" dirty="0">
                <a:solidFill>
                  <a:schemeClr val="tx1"/>
                </a:solidFill>
              </a:rPr>
              <a:t>Results</a:t>
            </a:r>
          </a:p>
        </p:txBody>
      </p:sp>
      <p:sp>
        <p:nvSpPr>
          <p:cNvPr id="94" name="Text Placeholder 93">
            <a:extLst>
              <a:ext uri="{FF2B5EF4-FFF2-40B4-BE49-F238E27FC236}">
                <a16:creationId xmlns:a16="http://schemas.microsoft.com/office/drawing/2014/main" id="{2F97B74B-534C-0842-BE55-AF8FB3442020}"/>
              </a:ext>
            </a:extLst>
          </p:cNvPr>
          <p:cNvSpPr>
            <a:spLocks noGrp="1"/>
          </p:cNvSpPr>
          <p:nvPr>
            <p:ph type="body" sz="quarter" idx="25"/>
          </p:nvPr>
        </p:nvSpPr>
        <p:spPr>
          <a:xfrm>
            <a:off x="22015536" y="23537795"/>
            <a:ext cx="10047018" cy="805582"/>
          </a:xfrm>
        </p:spPr>
        <p:txBody>
          <a:bodyPr/>
          <a:lstStyle/>
          <a:p>
            <a:r>
              <a:rPr lang="en-US" sz="3900" dirty="0">
                <a:solidFill>
                  <a:schemeClr val="tx1"/>
                </a:solidFill>
              </a:rPr>
              <a:t>Conclusion</a:t>
            </a:r>
          </a:p>
        </p:txBody>
      </p:sp>
      <p:sp>
        <p:nvSpPr>
          <p:cNvPr id="95" name="Text Placeholder 94">
            <a:extLst>
              <a:ext uri="{FF2B5EF4-FFF2-40B4-BE49-F238E27FC236}">
                <a16:creationId xmlns:a16="http://schemas.microsoft.com/office/drawing/2014/main" id="{C425D03E-96C1-804B-9990-78B2B8349537}"/>
              </a:ext>
            </a:extLst>
          </p:cNvPr>
          <p:cNvSpPr>
            <a:spLocks noGrp="1"/>
          </p:cNvSpPr>
          <p:nvPr>
            <p:ph type="body" sz="quarter" idx="26"/>
          </p:nvPr>
        </p:nvSpPr>
        <p:spPr>
          <a:xfrm>
            <a:off x="21959123" y="24205474"/>
            <a:ext cx="9669320" cy="7848280"/>
          </a:xfrm>
        </p:spPr>
        <p:txBody>
          <a:bodyPr/>
          <a:lstStyle/>
          <a:p>
            <a:r>
              <a:rPr lang="en-US" sz="3000" dirty="0">
                <a:solidFill>
                  <a:schemeClr val="tx1"/>
                </a:solidFill>
              </a:rPr>
              <a:t>Machine learning models were effective in predicting  hypertension risk using health and lifestyle data. Gradient boosting produced the strongest performance across all metrics.</a:t>
            </a:r>
          </a:p>
          <a:p>
            <a:endParaRPr lang="en-US" sz="3000" dirty="0">
              <a:solidFill>
                <a:schemeClr val="tx1"/>
              </a:solidFill>
            </a:endParaRPr>
          </a:p>
          <a:p>
            <a:r>
              <a:rPr lang="en-US" sz="3000" dirty="0">
                <a:solidFill>
                  <a:schemeClr val="tx1"/>
                </a:solidFill>
              </a:rPr>
              <a:t>While blood pressure was a key predictor, model performance remained high even when it was removed, showing that other variables such as age, kidney function, and lifestyle factors also play an important role.</a:t>
            </a:r>
          </a:p>
          <a:p>
            <a:endParaRPr lang="en-US" sz="3000" dirty="0">
              <a:solidFill>
                <a:schemeClr val="tx1"/>
              </a:solidFill>
            </a:endParaRPr>
          </a:p>
          <a:p>
            <a:r>
              <a:rPr lang="en-US" sz="3000" dirty="0">
                <a:solidFill>
                  <a:schemeClr val="tx1"/>
                </a:solidFill>
              </a:rPr>
              <a:t>These results suggest that predictive models can help identify at-risk individuals even when complete clinical data is not available. </a:t>
            </a:r>
          </a:p>
          <a:p>
            <a:r>
              <a:rPr lang="en-US" sz="3000" dirty="0">
                <a:solidFill>
                  <a:schemeClr val="tx1"/>
                </a:solidFill>
              </a:rPr>
              <a:t>This approach demonstrates the potential of early risk detection and helps guide preventative healthcare strategies.</a:t>
            </a:r>
          </a:p>
        </p:txBody>
      </p:sp>
      <p:sp>
        <p:nvSpPr>
          <p:cNvPr id="96" name="Text Placeholder 95">
            <a:extLst>
              <a:ext uri="{FF2B5EF4-FFF2-40B4-BE49-F238E27FC236}">
                <a16:creationId xmlns:a16="http://schemas.microsoft.com/office/drawing/2014/main" id="{59AA662D-8D39-F746-9987-521130222D8C}"/>
              </a:ext>
            </a:extLst>
          </p:cNvPr>
          <p:cNvSpPr>
            <a:spLocks noGrp="1"/>
          </p:cNvSpPr>
          <p:nvPr>
            <p:ph type="body" sz="quarter" idx="27"/>
          </p:nvPr>
        </p:nvSpPr>
        <p:spPr>
          <a:xfrm>
            <a:off x="32965460" y="23442139"/>
            <a:ext cx="10047018" cy="784822"/>
          </a:xfrm>
        </p:spPr>
        <p:txBody>
          <a:bodyPr/>
          <a:lstStyle/>
          <a:p>
            <a:r>
              <a:rPr lang="en-US" sz="3900" dirty="0">
                <a:solidFill>
                  <a:schemeClr val="tx1"/>
                </a:solidFill>
              </a:rPr>
              <a:t>Future Work</a:t>
            </a:r>
          </a:p>
        </p:txBody>
      </p:sp>
      <p:sp>
        <p:nvSpPr>
          <p:cNvPr id="97" name="Text Placeholder 96">
            <a:extLst>
              <a:ext uri="{FF2B5EF4-FFF2-40B4-BE49-F238E27FC236}">
                <a16:creationId xmlns:a16="http://schemas.microsoft.com/office/drawing/2014/main" id="{C9838796-29D9-8A4D-9392-4C51FAC609C9}"/>
              </a:ext>
            </a:extLst>
          </p:cNvPr>
          <p:cNvSpPr>
            <a:spLocks noGrp="1"/>
          </p:cNvSpPr>
          <p:nvPr>
            <p:ph type="body" sz="quarter" idx="28"/>
          </p:nvPr>
        </p:nvSpPr>
        <p:spPr>
          <a:xfrm>
            <a:off x="32837811" y="24167754"/>
            <a:ext cx="10447743" cy="3600964"/>
          </a:xfrm>
        </p:spPr>
        <p:txBody>
          <a:bodyPr/>
          <a:lstStyle/>
          <a:p>
            <a:pPr marL="342900" indent="-342900">
              <a:buFont typeface="Arial" panose="020B0604020202020204" pitchFamily="34" charset="0"/>
              <a:buChar char="•"/>
            </a:pPr>
            <a:r>
              <a:rPr lang="en-US" sz="3000" dirty="0">
                <a:solidFill>
                  <a:schemeClr val="tx1"/>
                </a:solidFill>
              </a:rPr>
              <a:t>Test additional machine learning models</a:t>
            </a:r>
          </a:p>
          <a:p>
            <a:pPr marL="342900" indent="-342900">
              <a:buFont typeface="Arial" panose="020B0604020202020204" pitchFamily="34" charset="0"/>
              <a:buChar char="•"/>
            </a:pPr>
            <a:r>
              <a:rPr lang="en-US" sz="3000" dirty="0">
                <a:solidFill>
                  <a:schemeClr val="tx1"/>
                </a:solidFill>
              </a:rPr>
              <a:t>Improve feature selection and preprocessing</a:t>
            </a:r>
          </a:p>
          <a:p>
            <a:pPr marL="342900" indent="-342900">
              <a:buFont typeface="Arial" panose="020B0604020202020204" pitchFamily="34" charset="0"/>
              <a:buChar char="•"/>
            </a:pPr>
            <a:r>
              <a:rPr lang="en-US" sz="3000" dirty="0">
                <a:solidFill>
                  <a:schemeClr val="tx1"/>
                </a:solidFill>
              </a:rPr>
              <a:t>Apply models in clinical screening tools </a:t>
            </a:r>
          </a:p>
          <a:p>
            <a:pPr marL="342900" indent="-342900">
              <a:buFont typeface="Arial" panose="020B0604020202020204" pitchFamily="34" charset="0"/>
              <a:buChar char="•"/>
            </a:pPr>
            <a:r>
              <a:rPr lang="en-US" sz="3000" dirty="0">
                <a:solidFill>
                  <a:schemeClr val="tx1"/>
                </a:solidFill>
              </a:rPr>
              <a:t>Expand analysis to predict additional cardiovascular outcomes</a:t>
            </a:r>
          </a:p>
          <a:p>
            <a:pPr marL="342900" indent="-342900">
              <a:buFont typeface="Arial" panose="020B0604020202020204" pitchFamily="34" charset="0"/>
              <a:buChar char="•"/>
            </a:pPr>
            <a:r>
              <a:rPr lang="en-US" sz="3000" dirty="0">
                <a:solidFill>
                  <a:schemeClr val="tx1"/>
                </a:solidFill>
              </a:rPr>
              <a:t>Explore use in early detection for at-risk populations</a:t>
            </a:r>
          </a:p>
        </p:txBody>
      </p:sp>
      <p:sp>
        <p:nvSpPr>
          <p:cNvPr id="98" name="Text Placeholder 97">
            <a:extLst>
              <a:ext uri="{FF2B5EF4-FFF2-40B4-BE49-F238E27FC236}">
                <a16:creationId xmlns:a16="http://schemas.microsoft.com/office/drawing/2014/main" id="{5FF1C2DE-3A2B-6E4D-A87A-F041F0046A3A}"/>
              </a:ext>
            </a:extLst>
          </p:cNvPr>
          <p:cNvSpPr>
            <a:spLocks noGrp="1"/>
          </p:cNvSpPr>
          <p:nvPr>
            <p:ph type="body" sz="quarter" idx="29"/>
          </p:nvPr>
        </p:nvSpPr>
        <p:spPr>
          <a:xfrm>
            <a:off x="32937614" y="29154128"/>
            <a:ext cx="10047018" cy="553990"/>
          </a:xfrm>
        </p:spPr>
        <p:txBody>
          <a:bodyPr/>
          <a:lstStyle/>
          <a:p>
            <a:r>
              <a:rPr lang="en-US" sz="2400" dirty="0">
                <a:solidFill>
                  <a:schemeClr val="tx1"/>
                </a:solidFill>
              </a:rPr>
              <a:t>References</a:t>
            </a:r>
          </a:p>
        </p:txBody>
      </p:sp>
      <p:sp>
        <p:nvSpPr>
          <p:cNvPr id="99" name="Text Placeholder 98">
            <a:extLst>
              <a:ext uri="{FF2B5EF4-FFF2-40B4-BE49-F238E27FC236}">
                <a16:creationId xmlns:a16="http://schemas.microsoft.com/office/drawing/2014/main" id="{D5A02CF7-A081-4343-8CE7-EA107BE5C7F0}"/>
              </a:ext>
            </a:extLst>
          </p:cNvPr>
          <p:cNvSpPr>
            <a:spLocks noGrp="1"/>
          </p:cNvSpPr>
          <p:nvPr>
            <p:ph type="body" sz="quarter" idx="30"/>
          </p:nvPr>
        </p:nvSpPr>
        <p:spPr>
          <a:xfrm>
            <a:off x="33015133" y="29499450"/>
            <a:ext cx="10052050" cy="3157765"/>
          </a:xfrm>
        </p:spPr>
        <p:txBody>
          <a:bodyPr/>
          <a:lstStyle/>
          <a:p>
            <a:r>
              <a:rPr lang="en-US" sz="1500" dirty="0">
                <a:solidFill>
                  <a:schemeClr val="tx1"/>
                </a:solidFill>
              </a:rPr>
              <a:t>Centers for Disease Control and Prevention (CDC). </a:t>
            </a:r>
            <a:r>
              <a:rPr lang="en-US" sz="1500" i="1" dirty="0">
                <a:solidFill>
                  <a:schemeClr val="tx1"/>
                </a:solidFill>
              </a:rPr>
              <a:t>National Health and Nutrition Examination Survey (NHANES).</a:t>
            </a:r>
            <a:r>
              <a:rPr lang="en-US" sz="1500" dirty="0">
                <a:solidFill>
                  <a:schemeClr val="tx1"/>
                </a:solidFill>
              </a:rPr>
              <a:t> https://www.cdc.gov/nchs/nhanes/</a:t>
            </a:r>
          </a:p>
          <a:p>
            <a:r>
              <a:rPr lang="en-US" sz="1500" dirty="0">
                <a:solidFill>
                  <a:schemeClr val="tx1"/>
                </a:solidFill>
              </a:rPr>
              <a:t>Kaggle. </a:t>
            </a:r>
            <a:r>
              <a:rPr lang="en-US" sz="1500" i="1" dirty="0">
                <a:solidFill>
                  <a:schemeClr val="tx1"/>
                </a:solidFill>
              </a:rPr>
              <a:t>NHANES Cardiometabolic Dataset.</a:t>
            </a:r>
            <a:r>
              <a:rPr lang="en-US" sz="1500" dirty="0">
                <a:solidFill>
                  <a:schemeClr val="tx1"/>
                </a:solidFill>
              </a:rPr>
              <a:t> https://www.kaggle.com/</a:t>
            </a:r>
          </a:p>
          <a:p>
            <a:r>
              <a:rPr lang="en-US" sz="1500" dirty="0" err="1">
                <a:solidFill>
                  <a:schemeClr val="tx1"/>
                </a:solidFill>
              </a:rPr>
              <a:t>DataCamp</a:t>
            </a:r>
            <a:r>
              <a:rPr lang="en-US" sz="1500" dirty="0">
                <a:solidFill>
                  <a:schemeClr val="tx1"/>
                </a:solidFill>
              </a:rPr>
              <a:t>. </a:t>
            </a:r>
            <a:r>
              <a:rPr lang="en-US" sz="1500" i="1" dirty="0">
                <a:solidFill>
                  <a:schemeClr val="tx1"/>
                </a:solidFill>
              </a:rPr>
              <a:t>Random Forest Classifier in Python.</a:t>
            </a:r>
            <a:r>
              <a:rPr lang="en-US" sz="1500" dirty="0">
                <a:solidFill>
                  <a:schemeClr val="tx1"/>
                </a:solidFill>
              </a:rPr>
              <a:t> https://www.datacamp.com/tutorial/random-forests-classifier-python</a:t>
            </a:r>
          </a:p>
          <a:p>
            <a:r>
              <a:rPr lang="en-US" sz="1500" dirty="0">
                <a:solidFill>
                  <a:schemeClr val="tx1"/>
                </a:solidFill>
              </a:rPr>
              <a:t>Data36. </a:t>
            </a:r>
            <a:r>
              <a:rPr lang="en-US" sz="1500" i="1" dirty="0">
                <a:solidFill>
                  <a:schemeClr val="tx1"/>
                </a:solidFill>
              </a:rPr>
              <a:t>Random Forest in Python.</a:t>
            </a:r>
            <a:r>
              <a:rPr lang="en-US" sz="1500" dirty="0">
                <a:solidFill>
                  <a:schemeClr val="tx1"/>
                </a:solidFill>
              </a:rPr>
              <a:t> https://data36.com/random-forest-in-python/</a:t>
            </a:r>
          </a:p>
          <a:p>
            <a:r>
              <a:rPr lang="en-US" sz="1500" dirty="0" err="1">
                <a:solidFill>
                  <a:schemeClr val="tx1"/>
                </a:solidFill>
              </a:rPr>
              <a:t>DataCamp</a:t>
            </a:r>
            <a:r>
              <a:rPr lang="en-US" sz="1500" dirty="0">
                <a:solidFill>
                  <a:schemeClr val="tx1"/>
                </a:solidFill>
              </a:rPr>
              <a:t>. </a:t>
            </a:r>
            <a:r>
              <a:rPr lang="en-US" sz="1500" i="1" dirty="0">
                <a:solidFill>
                  <a:schemeClr val="tx1"/>
                </a:solidFill>
              </a:rPr>
              <a:t>Guide to the Gradient Boosting Algorithm.</a:t>
            </a:r>
            <a:r>
              <a:rPr lang="en-US" sz="1500" dirty="0">
                <a:solidFill>
                  <a:schemeClr val="tx1"/>
                </a:solidFill>
              </a:rPr>
              <a:t> https://www.datacamp.com/tutorial/guide-to-the-gradient-boosting-algorithm</a:t>
            </a:r>
          </a:p>
          <a:p>
            <a:r>
              <a:rPr lang="en-US" sz="1500" dirty="0">
                <a:solidFill>
                  <a:schemeClr val="tx1"/>
                </a:solidFill>
              </a:rPr>
              <a:t>Stack Overflow. </a:t>
            </a:r>
            <a:r>
              <a:rPr lang="en-US" sz="1500" i="1" dirty="0">
                <a:solidFill>
                  <a:schemeClr val="tx1"/>
                </a:solidFill>
              </a:rPr>
              <a:t>How to Plot ROC Curve in Python.</a:t>
            </a:r>
            <a:r>
              <a:rPr lang="en-US" sz="1500" dirty="0">
                <a:solidFill>
                  <a:schemeClr val="tx1"/>
                </a:solidFill>
              </a:rPr>
              <a:t> https://stackoverflow.com/questions/25009284/how-to-plot-roc-curve-in-python</a:t>
            </a:r>
          </a:p>
          <a:p>
            <a:endParaRPr lang="en-US" sz="2100" dirty="0">
              <a:solidFill>
                <a:schemeClr val="tx1"/>
              </a:solidFill>
            </a:endParaRPr>
          </a:p>
        </p:txBody>
      </p:sp>
      <p:sp>
        <p:nvSpPr>
          <p:cNvPr id="100" name="Text Placeholder 99">
            <a:extLst>
              <a:ext uri="{FF2B5EF4-FFF2-40B4-BE49-F238E27FC236}">
                <a16:creationId xmlns:a16="http://schemas.microsoft.com/office/drawing/2014/main" id="{E1D63EAF-47F9-774B-9E42-7734CFFDC91E}"/>
              </a:ext>
            </a:extLst>
          </p:cNvPr>
          <p:cNvSpPr>
            <a:spLocks noGrp="1"/>
          </p:cNvSpPr>
          <p:nvPr>
            <p:ph type="body" sz="quarter" idx="96"/>
          </p:nvPr>
        </p:nvSpPr>
        <p:spPr>
          <a:xfrm>
            <a:off x="601885" y="17547966"/>
            <a:ext cx="10056813" cy="3970295"/>
          </a:xfrm>
        </p:spPr>
        <p:txBody>
          <a:bodyPr/>
          <a:lstStyle/>
          <a:p>
            <a:pPr marL="342900" indent="-342900">
              <a:buFont typeface="Arial" panose="020B0604020202020204" pitchFamily="34" charset="0"/>
              <a:buChar char="•"/>
            </a:pPr>
            <a:r>
              <a:rPr lang="en-US" sz="3000" dirty="0">
                <a:solidFill>
                  <a:schemeClr val="tx1"/>
                </a:solidFill>
              </a:rPr>
              <a:t>Identify predictors of hypertension using demographic, lifestyle, and clinical health data</a:t>
            </a:r>
          </a:p>
          <a:p>
            <a:pPr marL="342900" indent="-342900">
              <a:buFont typeface="Arial" panose="020B0604020202020204" pitchFamily="34" charset="0"/>
              <a:buChar char="•"/>
            </a:pPr>
            <a:r>
              <a:rPr lang="en-US" sz="3000" dirty="0">
                <a:solidFill>
                  <a:schemeClr val="tx1"/>
                </a:solidFill>
              </a:rPr>
              <a:t>Develop predictive models using machine learning techniques</a:t>
            </a:r>
          </a:p>
          <a:p>
            <a:pPr marL="342900" indent="-342900">
              <a:buFont typeface="Arial" panose="020B0604020202020204" pitchFamily="34" charset="0"/>
              <a:buChar char="•"/>
            </a:pPr>
            <a:r>
              <a:rPr lang="en-US" sz="3000" dirty="0">
                <a:solidFill>
                  <a:schemeClr val="tx1"/>
                </a:solidFill>
              </a:rPr>
              <a:t>Evaluate model performance using classification metrics</a:t>
            </a:r>
          </a:p>
          <a:p>
            <a:pPr marL="342900" indent="-342900">
              <a:buFont typeface="Arial" panose="020B0604020202020204" pitchFamily="34" charset="0"/>
              <a:buChar char="•"/>
            </a:pPr>
            <a:r>
              <a:rPr lang="en-US" sz="3000" dirty="0">
                <a:solidFill>
                  <a:schemeClr val="tx1"/>
                </a:solidFill>
              </a:rPr>
              <a:t>Understand how health factors contribute to cardiovascular risk</a:t>
            </a:r>
          </a:p>
        </p:txBody>
      </p:sp>
      <p:sp>
        <p:nvSpPr>
          <p:cNvPr id="101" name="Text Placeholder 100">
            <a:extLst>
              <a:ext uri="{FF2B5EF4-FFF2-40B4-BE49-F238E27FC236}">
                <a16:creationId xmlns:a16="http://schemas.microsoft.com/office/drawing/2014/main" id="{3F1E5495-EDC6-8943-BA21-C1F3009450C4}"/>
              </a:ext>
            </a:extLst>
          </p:cNvPr>
          <p:cNvSpPr>
            <a:spLocks noGrp="1"/>
          </p:cNvSpPr>
          <p:nvPr>
            <p:ph type="body" sz="quarter" idx="150"/>
          </p:nvPr>
        </p:nvSpPr>
        <p:spPr>
          <a:xfrm>
            <a:off x="5751485" y="3219535"/>
            <a:ext cx="31998968" cy="1280160"/>
          </a:xfrm>
        </p:spPr>
        <p:txBody>
          <a:bodyPr>
            <a:normAutofit/>
          </a:bodyPr>
          <a:lstStyle/>
          <a:p>
            <a:r>
              <a:rPr lang="en-US" sz="6600" dirty="0">
                <a:solidFill>
                  <a:schemeClr val="tx1"/>
                </a:solidFill>
              </a:rPr>
              <a:t>Bellarmine University Data Science Program</a:t>
            </a:r>
          </a:p>
        </p:txBody>
      </p:sp>
      <p:sp>
        <p:nvSpPr>
          <p:cNvPr id="102" name="Text Placeholder 101">
            <a:extLst>
              <a:ext uri="{FF2B5EF4-FFF2-40B4-BE49-F238E27FC236}">
                <a16:creationId xmlns:a16="http://schemas.microsoft.com/office/drawing/2014/main" id="{54FAC610-AA8B-4244-8F06-6E0DE1A9D297}"/>
              </a:ext>
            </a:extLst>
          </p:cNvPr>
          <p:cNvSpPr>
            <a:spLocks noGrp="1"/>
          </p:cNvSpPr>
          <p:nvPr>
            <p:ph type="body" sz="quarter" idx="151"/>
          </p:nvPr>
        </p:nvSpPr>
        <p:spPr>
          <a:xfrm>
            <a:off x="5282441" y="2031232"/>
            <a:ext cx="31998968" cy="1280160"/>
          </a:xfrm>
        </p:spPr>
        <p:txBody>
          <a:bodyPr>
            <a:noAutofit/>
          </a:bodyPr>
          <a:lstStyle/>
          <a:p>
            <a:r>
              <a:rPr lang="en-US" sz="8400" dirty="0">
                <a:solidFill>
                  <a:schemeClr val="tx1"/>
                </a:solidFill>
              </a:rPr>
              <a:t>Ellie Landoch</a:t>
            </a:r>
          </a:p>
        </p:txBody>
      </p:sp>
      <p:sp>
        <p:nvSpPr>
          <p:cNvPr id="103" name="Text Placeholder 102">
            <a:extLst>
              <a:ext uri="{FF2B5EF4-FFF2-40B4-BE49-F238E27FC236}">
                <a16:creationId xmlns:a16="http://schemas.microsoft.com/office/drawing/2014/main" id="{95FDDD8F-0EE1-3F4F-AEB9-C6A6DBC65968}"/>
              </a:ext>
            </a:extLst>
          </p:cNvPr>
          <p:cNvSpPr>
            <a:spLocks noGrp="1"/>
          </p:cNvSpPr>
          <p:nvPr>
            <p:ph type="body" sz="quarter" idx="153"/>
          </p:nvPr>
        </p:nvSpPr>
        <p:spPr>
          <a:xfrm>
            <a:off x="1966947" y="581603"/>
            <a:ext cx="38343689" cy="1637973"/>
          </a:xfrm>
        </p:spPr>
        <p:txBody>
          <a:bodyPr>
            <a:noAutofit/>
          </a:bodyPr>
          <a:lstStyle/>
          <a:p>
            <a:r>
              <a:rPr lang="en-US" sz="10200" dirty="0">
                <a:solidFill>
                  <a:schemeClr val="tx1"/>
                </a:solidFill>
              </a:rPr>
              <a:t>Predicting Cardiometabolic Risk Using Machine Learning</a:t>
            </a:r>
          </a:p>
        </p:txBody>
      </p:sp>
      <p:sp>
        <p:nvSpPr>
          <p:cNvPr id="2" name="Text Placeholder 87">
            <a:extLst>
              <a:ext uri="{FF2B5EF4-FFF2-40B4-BE49-F238E27FC236}">
                <a16:creationId xmlns:a16="http://schemas.microsoft.com/office/drawing/2014/main" id="{5FEA6AA6-BD85-AD0B-C902-87D5B6432FDF}"/>
              </a:ext>
            </a:extLst>
          </p:cNvPr>
          <p:cNvSpPr txBox="1">
            <a:spLocks/>
          </p:cNvSpPr>
          <p:nvPr/>
        </p:nvSpPr>
        <p:spPr>
          <a:xfrm>
            <a:off x="603472" y="21591802"/>
            <a:ext cx="10048875" cy="784822"/>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900" dirty="0">
                <a:solidFill>
                  <a:schemeClr val="tx1"/>
                </a:solidFill>
              </a:rPr>
              <a:t>Dataset</a:t>
            </a:r>
          </a:p>
        </p:txBody>
      </p:sp>
      <p:sp>
        <p:nvSpPr>
          <p:cNvPr id="3" name="Text Placeholder 86">
            <a:extLst>
              <a:ext uri="{FF2B5EF4-FFF2-40B4-BE49-F238E27FC236}">
                <a16:creationId xmlns:a16="http://schemas.microsoft.com/office/drawing/2014/main" id="{639C126B-D2BA-66A3-9731-74D6C4860DDA}"/>
              </a:ext>
            </a:extLst>
          </p:cNvPr>
          <p:cNvSpPr txBox="1">
            <a:spLocks/>
          </p:cNvSpPr>
          <p:nvPr/>
        </p:nvSpPr>
        <p:spPr>
          <a:xfrm>
            <a:off x="605646" y="22238896"/>
            <a:ext cx="10056813" cy="3600964"/>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000" b="1" dirty="0">
                <a:solidFill>
                  <a:schemeClr val="tx1"/>
                </a:solidFill>
              </a:rPr>
              <a:t>NHANES Cardiometabolic Dataset</a:t>
            </a:r>
          </a:p>
          <a:p>
            <a:pPr marL="342900" indent="-342900">
              <a:buFont typeface="Arial" panose="020B0604020202020204" pitchFamily="34" charset="0"/>
              <a:buChar char="•"/>
            </a:pPr>
            <a:r>
              <a:rPr lang="en-US" sz="3000" dirty="0">
                <a:solidFill>
                  <a:schemeClr val="tx1"/>
                </a:solidFill>
              </a:rPr>
              <a:t>Collected by the CDC</a:t>
            </a:r>
          </a:p>
          <a:p>
            <a:pPr marL="342900" indent="-342900">
              <a:buFont typeface="Arial" panose="020B0604020202020204" pitchFamily="34" charset="0"/>
              <a:buChar char="•"/>
            </a:pPr>
            <a:r>
              <a:rPr lang="en-US" sz="3000" dirty="0">
                <a:solidFill>
                  <a:schemeClr val="tx1"/>
                </a:solidFill>
              </a:rPr>
              <a:t>~10,000 U.S. adults</a:t>
            </a:r>
          </a:p>
          <a:p>
            <a:pPr marL="342900" indent="-342900">
              <a:buFont typeface="Arial" panose="020B0604020202020204" pitchFamily="34" charset="0"/>
              <a:buChar char="•"/>
            </a:pPr>
            <a:r>
              <a:rPr lang="en-US" sz="3000" dirty="0">
                <a:solidFill>
                  <a:schemeClr val="tx1"/>
                </a:solidFill>
              </a:rPr>
              <a:t>Demographic, lifestyle, and clinical variables</a:t>
            </a:r>
          </a:p>
          <a:p>
            <a:pPr marL="342900" indent="-342900">
              <a:buFont typeface="Arial" panose="020B0604020202020204" pitchFamily="34" charset="0"/>
              <a:buChar char="•"/>
            </a:pPr>
            <a:r>
              <a:rPr lang="en-US" sz="3000" dirty="0">
                <a:solidFill>
                  <a:schemeClr val="tx1"/>
                </a:solidFill>
              </a:rPr>
              <a:t>Includes blood pressure, BMI, cholesterol, smoking behavior, kidney function indicators, etc.</a:t>
            </a:r>
          </a:p>
        </p:txBody>
      </p:sp>
      <p:sp>
        <p:nvSpPr>
          <p:cNvPr id="4" name="Text Placeholder 90">
            <a:extLst>
              <a:ext uri="{FF2B5EF4-FFF2-40B4-BE49-F238E27FC236}">
                <a16:creationId xmlns:a16="http://schemas.microsoft.com/office/drawing/2014/main" id="{0D5D039B-BE3D-0F67-3970-440F662D2B72}"/>
              </a:ext>
            </a:extLst>
          </p:cNvPr>
          <p:cNvSpPr txBox="1">
            <a:spLocks/>
          </p:cNvSpPr>
          <p:nvPr/>
        </p:nvSpPr>
        <p:spPr>
          <a:xfrm>
            <a:off x="10944351" y="11411138"/>
            <a:ext cx="10048875" cy="784822"/>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900" dirty="0">
                <a:solidFill>
                  <a:schemeClr val="tx1"/>
                </a:solidFill>
              </a:rPr>
              <a:t>Model Evaluation </a:t>
            </a:r>
          </a:p>
        </p:txBody>
      </p:sp>
      <p:sp>
        <p:nvSpPr>
          <p:cNvPr id="5" name="Text Placeholder 89">
            <a:extLst>
              <a:ext uri="{FF2B5EF4-FFF2-40B4-BE49-F238E27FC236}">
                <a16:creationId xmlns:a16="http://schemas.microsoft.com/office/drawing/2014/main" id="{6025AE47-AB77-9AD0-4210-92FC3BC23F3A}"/>
              </a:ext>
            </a:extLst>
          </p:cNvPr>
          <p:cNvSpPr txBox="1">
            <a:spLocks/>
          </p:cNvSpPr>
          <p:nvPr/>
        </p:nvSpPr>
        <p:spPr>
          <a:xfrm>
            <a:off x="11005913" y="12018960"/>
            <a:ext cx="10048874" cy="4708959"/>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000" dirty="0">
                <a:solidFill>
                  <a:schemeClr val="tx1"/>
                </a:solidFill>
              </a:rPr>
              <a:t>Performance metrics used:</a:t>
            </a:r>
          </a:p>
          <a:p>
            <a:pPr marL="342900" indent="-342900">
              <a:buFont typeface="Arial" panose="020B0604020202020204" pitchFamily="34" charset="0"/>
              <a:buChar char="•"/>
            </a:pPr>
            <a:r>
              <a:rPr lang="en-US" sz="3000" b="1" dirty="0">
                <a:solidFill>
                  <a:schemeClr val="tx1"/>
                </a:solidFill>
              </a:rPr>
              <a:t>Accuracy </a:t>
            </a:r>
            <a:r>
              <a:rPr lang="en-US" sz="3000" dirty="0">
                <a:solidFill>
                  <a:schemeClr val="tx1"/>
                </a:solidFill>
              </a:rPr>
              <a:t>– </a:t>
            </a:r>
            <a:r>
              <a:rPr lang="en-US" i="1" dirty="0">
                <a:solidFill>
                  <a:schemeClr val="tx1"/>
                </a:solidFill>
              </a:rPr>
              <a:t>overall correctness of predictions</a:t>
            </a:r>
          </a:p>
          <a:p>
            <a:pPr marL="342900" indent="-342900">
              <a:buFont typeface="Arial" panose="020B0604020202020204" pitchFamily="34" charset="0"/>
              <a:buChar char="•"/>
            </a:pPr>
            <a:r>
              <a:rPr lang="en-US" sz="3000" b="1" dirty="0">
                <a:solidFill>
                  <a:schemeClr val="tx1"/>
                </a:solidFill>
              </a:rPr>
              <a:t>Precision </a:t>
            </a:r>
            <a:r>
              <a:rPr lang="en-US" sz="3000" dirty="0">
                <a:solidFill>
                  <a:schemeClr val="tx1"/>
                </a:solidFill>
              </a:rPr>
              <a:t>– </a:t>
            </a:r>
            <a:r>
              <a:rPr lang="en-US" i="1" dirty="0">
                <a:solidFill>
                  <a:schemeClr val="tx1"/>
                </a:solidFill>
              </a:rPr>
              <a:t>how often positive predictions are correct</a:t>
            </a:r>
          </a:p>
          <a:p>
            <a:pPr marL="342900" indent="-342900">
              <a:buFont typeface="Arial" panose="020B0604020202020204" pitchFamily="34" charset="0"/>
              <a:buChar char="•"/>
            </a:pPr>
            <a:r>
              <a:rPr lang="en-US" sz="3000" b="1" dirty="0">
                <a:solidFill>
                  <a:schemeClr val="tx1"/>
                </a:solidFill>
              </a:rPr>
              <a:t>Recall </a:t>
            </a:r>
            <a:r>
              <a:rPr lang="en-US" sz="3000" dirty="0">
                <a:solidFill>
                  <a:schemeClr val="tx1"/>
                </a:solidFill>
              </a:rPr>
              <a:t>– </a:t>
            </a:r>
            <a:r>
              <a:rPr lang="en-US" i="1" dirty="0">
                <a:solidFill>
                  <a:schemeClr val="tx1"/>
                </a:solidFill>
              </a:rPr>
              <a:t>how well the model identifies true positives</a:t>
            </a:r>
          </a:p>
          <a:p>
            <a:pPr marL="342900" indent="-342900">
              <a:buFont typeface="Arial" panose="020B0604020202020204" pitchFamily="34" charset="0"/>
              <a:buChar char="•"/>
            </a:pPr>
            <a:r>
              <a:rPr lang="en-US" sz="3000" b="1" dirty="0">
                <a:solidFill>
                  <a:schemeClr val="tx1"/>
                </a:solidFill>
              </a:rPr>
              <a:t>F1 Score </a:t>
            </a:r>
            <a:r>
              <a:rPr lang="en-US" dirty="0">
                <a:solidFill>
                  <a:schemeClr val="tx1"/>
                </a:solidFill>
              </a:rPr>
              <a:t>– </a:t>
            </a:r>
            <a:r>
              <a:rPr lang="en-US" i="1" dirty="0">
                <a:solidFill>
                  <a:schemeClr val="tx1"/>
                </a:solidFill>
              </a:rPr>
              <a:t>balance between precision and recall</a:t>
            </a:r>
          </a:p>
          <a:p>
            <a:pPr marL="342900" indent="-342900">
              <a:buFont typeface="Arial" panose="020B0604020202020204" pitchFamily="34" charset="0"/>
              <a:buChar char="•"/>
            </a:pPr>
            <a:r>
              <a:rPr lang="en-US" sz="3000" b="1" dirty="0">
                <a:solidFill>
                  <a:schemeClr val="tx1"/>
                </a:solidFill>
              </a:rPr>
              <a:t>ROC Curve (AUC) </a:t>
            </a:r>
            <a:r>
              <a:rPr lang="en-US" i="1" dirty="0">
                <a:solidFill>
                  <a:schemeClr val="tx1"/>
                </a:solidFill>
              </a:rPr>
              <a:t>– ability to distinguish between risk vs no risk</a:t>
            </a:r>
          </a:p>
          <a:p>
            <a:r>
              <a:rPr lang="en-US" sz="3000" dirty="0">
                <a:solidFill>
                  <a:schemeClr val="tx1"/>
                </a:solidFill>
              </a:rPr>
              <a:t>These metrics measure how accurately the model identifies individuals with and without hypertension risk.</a:t>
            </a:r>
          </a:p>
        </p:txBody>
      </p:sp>
      <p:sp>
        <p:nvSpPr>
          <p:cNvPr id="10" name="Text Placeholder 89">
            <a:extLst>
              <a:ext uri="{FF2B5EF4-FFF2-40B4-BE49-F238E27FC236}">
                <a16:creationId xmlns:a16="http://schemas.microsoft.com/office/drawing/2014/main" id="{D8B1DE38-E380-8703-D996-426ABB829DE8}"/>
              </a:ext>
            </a:extLst>
          </p:cNvPr>
          <p:cNvSpPr txBox="1">
            <a:spLocks/>
          </p:cNvSpPr>
          <p:nvPr/>
        </p:nvSpPr>
        <p:spPr>
          <a:xfrm>
            <a:off x="10944352" y="24485503"/>
            <a:ext cx="10048874" cy="110797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100" dirty="0">
                <a:solidFill>
                  <a:schemeClr val="tx1"/>
                </a:solidFill>
              </a:rPr>
              <a:t>ROC curve showing the model’s ability to distinguish between individuals with and without hypertension risk.</a:t>
            </a:r>
          </a:p>
        </p:txBody>
      </p:sp>
      <p:sp>
        <p:nvSpPr>
          <p:cNvPr id="12" name="Text Placeholder 89">
            <a:extLst>
              <a:ext uri="{FF2B5EF4-FFF2-40B4-BE49-F238E27FC236}">
                <a16:creationId xmlns:a16="http://schemas.microsoft.com/office/drawing/2014/main" id="{A6077F26-6296-8F9D-926B-A507EB65F063}"/>
              </a:ext>
            </a:extLst>
          </p:cNvPr>
          <p:cNvSpPr txBox="1">
            <a:spLocks/>
          </p:cNvSpPr>
          <p:nvPr/>
        </p:nvSpPr>
        <p:spPr>
          <a:xfrm>
            <a:off x="32222639" y="13610829"/>
            <a:ext cx="10581183" cy="784808"/>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100" dirty="0">
                <a:solidFill>
                  <a:schemeClr val="tx1"/>
                </a:solidFill>
              </a:rPr>
              <a:t>Gradient Boosting feature importance identifying the strongest predictors of hypertension risk.</a:t>
            </a:r>
          </a:p>
        </p:txBody>
      </p:sp>
      <p:sp>
        <p:nvSpPr>
          <p:cNvPr id="13" name="Text Placeholder 100">
            <a:extLst>
              <a:ext uri="{FF2B5EF4-FFF2-40B4-BE49-F238E27FC236}">
                <a16:creationId xmlns:a16="http://schemas.microsoft.com/office/drawing/2014/main" id="{341B815A-0CE0-43FD-B9F5-C98B31727731}"/>
              </a:ext>
            </a:extLst>
          </p:cNvPr>
          <p:cNvSpPr txBox="1">
            <a:spLocks/>
          </p:cNvSpPr>
          <p:nvPr/>
        </p:nvSpPr>
        <p:spPr>
          <a:xfrm>
            <a:off x="5375363" y="4320635"/>
            <a:ext cx="31998968" cy="1280160"/>
          </a:xfrm>
          <a:prstGeom prst="rect">
            <a:avLst/>
          </a:prstGeom>
        </p:spPr>
        <p:txBody>
          <a:bodyPr>
            <a:normAutofit/>
          </a:bodyPr>
          <a:lstStyle>
            <a:lvl1pPr marL="0" indent="0" algn="ctr" defTabSz="4388900" rtl="0" eaLnBrk="1" latinLnBrk="0" hangingPunct="1">
              <a:spcBef>
                <a:spcPct val="20000"/>
              </a:spcBef>
              <a:buFontTx/>
              <a:buNone/>
              <a:defRPr sz="6000" kern="1200">
                <a:solidFill>
                  <a:schemeClr val="accent5">
                    <a:lumMod val="50000"/>
                  </a:schemeClr>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4800" dirty="0">
                <a:solidFill>
                  <a:schemeClr val="tx1"/>
                </a:solidFill>
              </a:rPr>
              <a:t>Advisor: Dr. Andrew Karem</a:t>
            </a:r>
          </a:p>
        </p:txBody>
      </p:sp>
      <p:graphicFrame>
        <p:nvGraphicFramePr>
          <p:cNvPr id="14" name="Table 13">
            <a:extLst>
              <a:ext uri="{FF2B5EF4-FFF2-40B4-BE49-F238E27FC236}">
                <a16:creationId xmlns:a16="http://schemas.microsoft.com/office/drawing/2014/main" id="{4DF64604-EB78-8B73-900F-3572470EE7CB}"/>
              </a:ext>
            </a:extLst>
          </p:cNvPr>
          <p:cNvGraphicFramePr>
            <a:graphicFrameLocks noGrp="1"/>
          </p:cNvGraphicFramePr>
          <p:nvPr>
            <p:extLst>
              <p:ext uri="{D42A27DB-BD31-4B8C-83A1-F6EECF244321}">
                <p14:modId xmlns:p14="http://schemas.microsoft.com/office/powerpoint/2010/main" val="2398589476"/>
              </p:ext>
            </p:extLst>
          </p:nvPr>
        </p:nvGraphicFramePr>
        <p:xfrm>
          <a:off x="21877521" y="7318580"/>
          <a:ext cx="8191264" cy="2743200"/>
        </p:xfrm>
        <a:graphic>
          <a:graphicData uri="http://schemas.openxmlformats.org/drawingml/2006/table">
            <a:tbl>
              <a:tblPr firstRow="1" bandRow="1">
                <a:tableStyleId>{5C22544A-7EE6-4342-B048-85BDC9FD1C3A}</a:tableStyleId>
              </a:tblPr>
              <a:tblGrid>
                <a:gridCol w="4095632">
                  <a:extLst>
                    <a:ext uri="{9D8B030D-6E8A-4147-A177-3AD203B41FA5}">
                      <a16:colId xmlns:a16="http://schemas.microsoft.com/office/drawing/2014/main" val="2606489533"/>
                    </a:ext>
                  </a:extLst>
                </a:gridCol>
                <a:gridCol w="4095632">
                  <a:extLst>
                    <a:ext uri="{9D8B030D-6E8A-4147-A177-3AD203B41FA5}">
                      <a16:colId xmlns:a16="http://schemas.microsoft.com/office/drawing/2014/main" val="1008339019"/>
                    </a:ext>
                  </a:extLst>
                </a:gridCol>
              </a:tblGrid>
              <a:tr h="500795">
                <a:tc>
                  <a:txBody>
                    <a:bodyPr/>
                    <a:lstStyle/>
                    <a:p>
                      <a:r>
                        <a:rPr lang="en-US" sz="3000" dirty="0">
                          <a:solidFill>
                            <a:schemeClr val="tx1"/>
                          </a:solidFill>
                        </a:rPr>
                        <a:t>Metric</a:t>
                      </a:r>
                    </a:p>
                  </a:txBody>
                  <a:tcPr>
                    <a:solidFill>
                      <a:srgbClr val="DB6377"/>
                    </a:solidFill>
                  </a:tcPr>
                </a:tc>
                <a:tc>
                  <a:txBody>
                    <a:bodyPr/>
                    <a:lstStyle/>
                    <a:p>
                      <a:r>
                        <a:rPr lang="en-US" sz="3000" dirty="0">
                          <a:solidFill>
                            <a:schemeClr val="tx1"/>
                          </a:solidFill>
                        </a:rPr>
                        <a:t>Score</a:t>
                      </a:r>
                    </a:p>
                  </a:txBody>
                  <a:tcPr>
                    <a:solidFill>
                      <a:srgbClr val="DB6377"/>
                    </a:solidFill>
                  </a:tcPr>
                </a:tc>
                <a:extLst>
                  <a:ext uri="{0D108BD9-81ED-4DB2-BD59-A6C34878D82A}">
                    <a16:rowId xmlns:a16="http://schemas.microsoft.com/office/drawing/2014/main" val="3081916287"/>
                  </a:ext>
                </a:extLst>
              </a:tr>
              <a:tr h="500795">
                <a:tc>
                  <a:txBody>
                    <a:bodyPr/>
                    <a:lstStyle/>
                    <a:p>
                      <a:r>
                        <a:rPr lang="en-US" sz="3000" dirty="0"/>
                        <a:t>Accuracy</a:t>
                      </a:r>
                    </a:p>
                  </a:txBody>
                  <a:tcPr>
                    <a:solidFill>
                      <a:srgbClr val="ECAAB5"/>
                    </a:solidFill>
                  </a:tcPr>
                </a:tc>
                <a:tc>
                  <a:txBody>
                    <a:bodyPr/>
                    <a:lstStyle/>
                    <a:p>
                      <a:r>
                        <a:rPr lang="en-US" sz="3000" dirty="0"/>
                        <a:t>0.93</a:t>
                      </a:r>
                    </a:p>
                  </a:txBody>
                  <a:tcPr>
                    <a:solidFill>
                      <a:srgbClr val="ECAAB5"/>
                    </a:solidFill>
                  </a:tcPr>
                </a:tc>
                <a:extLst>
                  <a:ext uri="{0D108BD9-81ED-4DB2-BD59-A6C34878D82A}">
                    <a16:rowId xmlns:a16="http://schemas.microsoft.com/office/drawing/2014/main" val="3506727128"/>
                  </a:ext>
                </a:extLst>
              </a:tr>
              <a:tr h="500795">
                <a:tc>
                  <a:txBody>
                    <a:bodyPr/>
                    <a:lstStyle/>
                    <a:p>
                      <a:r>
                        <a:rPr lang="en-US" sz="3000" dirty="0"/>
                        <a:t>Precision</a:t>
                      </a:r>
                    </a:p>
                  </a:txBody>
                  <a:tcPr>
                    <a:solidFill>
                      <a:srgbClr val="F2C6CD"/>
                    </a:solidFill>
                  </a:tcPr>
                </a:tc>
                <a:tc>
                  <a:txBody>
                    <a:bodyPr/>
                    <a:lstStyle/>
                    <a:p>
                      <a:r>
                        <a:rPr lang="en-US" sz="3000" dirty="0"/>
                        <a:t>0.92</a:t>
                      </a:r>
                    </a:p>
                  </a:txBody>
                  <a:tcPr>
                    <a:solidFill>
                      <a:srgbClr val="F2C6CD"/>
                    </a:solidFill>
                  </a:tcPr>
                </a:tc>
                <a:extLst>
                  <a:ext uri="{0D108BD9-81ED-4DB2-BD59-A6C34878D82A}">
                    <a16:rowId xmlns:a16="http://schemas.microsoft.com/office/drawing/2014/main" val="2132126573"/>
                  </a:ext>
                </a:extLst>
              </a:tr>
              <a:tr h="500795">
                <a:tc>
                  <a:txBody>
                    <a:bodyPr/>
                    <a:lstStyle/>
                    <a:p>
                      <a:r>
                        <a:rPr lang="en-US" sz="3000" dirty="0"/>
                        <a:t>Recall</a:t>
                      </a:r>
                    </a:p>
                  </a:txBody>
                  <a:tcPr>
                    <a:solidFill>
                      <a:srgbClr val="ECAAB5"/>
                    </a:solidFill>
                  </a:tcPr>
                </a:tc>
                <a:tc>
                  <a:txBody>
                    <a:bodyPr/>
                    <a:lstStyle/>
                    <a:p>
                      <a:r>
                        <a:rPr lang="en-US" sz="3000" dirty="0"/>
                        <a:t>0.83</a:t>
                      </a:r>
                    </a:p>
                  </a:txBody>
                  <a:tcPr>
                    <a:solidFill>
                      <a:srgbClr val="ECAAB5"/>
                    </a:solidFill>
                  </a:tcPr>
                </a:tc>
                <a:extLst>
                  <a:ext uri="{0D108BD9-81ED-4DB2-BD59-A6C34878D82A}">
                    <a16:rowId xmlns:a16="http://schemas.microsoft.com/office/drawing/2014/main" val="612558527"/>
                  </a:ext>
                </a:extLst>
              </a:tr>
              <a:tr h="500795">
                <a:tc>
                  <a:txBody>
                    <a:bodyPr/>
                    <a:lstStyle/>
                    <a:p>
                      <a:r>
                        <a:rPr lang="en-US" sz="3000" dirty="0"/>
                        <a:t>F1 Score</a:t>
                      </a:r>
                    </a:p>
                  </a:txBody>
                  <a:tcPr>
                    <a:solidFill>
                      <a:srgbClr val="F2C6CD"/>
                    </a:solidFill>
                  </a:tcPr>
                </a:tc>
                <a:tc>
                  <a:txBody>
                    <a:bodyPr/>
                    <a:lstStyle/>
                    <a:p>
                      <a:r>
                        <a:rPr lang="en-US" sz="3000" dirty="0"/>
                        <a:t>0.87</a:t>
                      </a:r>
                    </a:p>
                  </a:txBody>
                  <a:tcPr>
                    <a:solidFill>
                      <a:srgbClr val="F2C6CD"/>
                    </a:solidFill>
                  </a:tcPr>
                </a:tc>
                <a:extLst>
                  <a:ext uri="{0D108BD9-81ED-4DB2-BD59-A6C34878D82A}">
                    <a16:rowId xmlns:a16="http://schemas.microsoft.com/office/drawing/2014/main" val="2874206432"/>
                  </a:ext>
                </a:extLst>
              </a:tr>
            </a:tbl>
          </a:graphicData>
        </a:graphic>
      </p:graphicFrame>
      <p:sp>
        <p:nvSpPr>
          <p:cNvPr id="8" name="Text Placeholder 97">
            <a:extLst>
              <a:ext uri="{FF2B5EF4-FFF2-40B4-BE49-F238E27FC236}">
                <a16:creationId xmlns:a16="http://schemas.microsoft.com/office/drawing/2014/main" id="{A8F4639E-D3F1-071B-81DA-0CC15530635B}"/>
              </a:ext>
            </a:extLst>
          </p:cNvPr>
          <p:cNvSpPr txBox="1">
            <a:spLocks/>
          </p:cNvSpPr>
          <p:nvPr/>
        </p:nvSpPr>
        <p:spPr>
          <a:xfrm>
            <a:off x="32937614" y="27284465"/>
            <a:ext cx="10047018" cy="646323"/>
          </a:xfrm>
          <a:prstGeom prst="rect">
            <a:avLst/>
          </a:prstGeom>
          <a:noFill/>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000" dirty="0">
                <a:solidFill>
                  <a:schemeClr val="tx1"/>
                </a:solidFill>
              </a:rPr>
              <a:t>Contact Information</a:t>
            </a:r>
          </a:p>
        </p:txBody>
      </p:sp>
      <p:sp>
        <p:nvSpPr>
          <p:cNvPr id="15" name="Text Placeholder 98">
            <a:extLst>
              <a:ext uri="{FF2B5EF4-FFF2-40B4-BE49-F238E27FC236}">
                <a16:creationId xmlns:a16="http://schemas.microsoft.com/office/drawing/2014/main" id="{E567A67D-1A00-B00C-297C-E0C0EF27134B}"/>
              </a:ext>
            </a:extLst>
          </p:cNvPr>
          <p:cNvSpPr txBox="1">
            <a:spLocks/>
          </p:cNvSpPr>
          <p:nvPr/>
        </p:nvSpPr>
        <p:spPr>
          <a:xfrm>
            <a:off x="32837811" y="27681221"/>
            <a:ext cx="10052050" cy="156040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ctr"/>
            <a:r>
              <a:rPr lang="en-US" sz="2100" dirty="0">
                <a:solidFill>
                  <a:schemeClr val="tx1"/>
                </a:solidFill>
              </a:rPr>
              <a:t>Ellie Landoch</a:t>
            </a:r>
          </a:p>
          <a:p>
            <a:pPr algn="ctr"/>
            <a:r>
              <a:rPr lang="en-US" sz="2100" dirty="0">
                <a:solidFill>
                  <a:schemeClr val="tx1"/>
                </a:solidFill>
              </a:rPr>
              <a:t>elandoch@bellarmine.edu</a:t>
            </a:r>
          </a:p>
          <a:p>
            <a:pPr algn="ctr"/>
            <a:r>
              <a:rPr lang="en-US" sz="2100" dirty="0">
                <a:solidFill>
                  <a:schemeClr val="tx1"/>
                </a:solidFill>
              </a:rPr>
              <a:t>Bellarmine University Data Science Program</a:t>
            </a:r>
          </a:p>
        </p:txBody>
      </p:sp>
      <p:sp>
        <p:nvSpPr>
          <p:cNvPr id="23" name="Text Placeholder 94">
            <a:extLst>
              <a:ext uri="{FF2B5EF4-FFF2-40B4-BE49-F238E27FC236}">
                <a16:creationId xmlns:a16="http://schemas.microsoft.com/office/drawing/2014/main" id="{5A22DD32-B987-DE5B-BEAE-3C1E2DFBD6C8}"/>
              </a:ext>
            </a:extLst>
          </p:cNvPr>
          <p:cNvSpPr txBox="1">
            <a:spLocks/>
          </p:cNvSpPr>
          <p:nvPr/>
        </p:nvSpPr>
        <p:spPr>
          <a:xfrm>
            <a:off x="21932076" y="11211348"/>
            <a:ext cx="10047018" cy="11172267"/>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000" b="1" dirty="0">
                <a:solidFill>
                  <a:schemeClr val="tx1"/>
                </a:solidFill>
              </a:rPr>
              <a:t>Key Findings</a:t>
            </a:r>
          </a:p>
          <a:p>
            <a:pPr marL="571500" indent="-571500">
              <a:buFont typeface="Arial" panose="020B0604020202020204" pitchFamily="34" charset="0"/>
              <a:buChar char="•"/>
            </a:pPr>
            <a:r>
              <a:rPr lang="en-US" sz="3000" b="1" dirty="0">
                <a:solidFill>
                  <a:schemeClr val="tx1"/>
                </a:solidFill>
              </a:rPr>
              <a:t>Gradient Boosting </a:t>
            </a:r>
            <a:r>
              <a:rPr lang="en-US" sz="3000" dirty="0">
                <a:solidFill>
                  <a:schemeClr val="tx1"/>
                </a:solidFill>
              </a:rPr>
              <a:t>achieved the highest performance among the models tested (Accuracy = 0.93, AUC = 0.98)</a:t>
            </a:r>
          </a:p>
          <a:p>
            <a:pPr marL="571500" indent="-571500">
              <a:buFont typeface="Arial" panose="020B0604020202020204" pitchFamily="34" charset="0"/>
              <a:buChar char="•"/>
            </a:pPr>
            <a:r>
              <a:rPr lang="en-US" sz="3000" dirty="0">
                <a:solidFill>
                  <a:schemeClr val="tx1"/>
                </a:solidFill>
              </a:rPr>
              <a:t>Removing blood pressure variables reduced model performance</a:t>
            </a:r>
          </a:p>
          <a:p>
            <a:pPr marL="571500" indent="-571500">
              <a:buFont typeface="Arial" panose="020B0604020202020204" pitchFamily="34" charset="0"/>
              <a:buChar char="•"/>
            </a:pPr>
            <a:r>
              <a:rPr lang="en-US" sz="3000" b="1" dirty="0">
                <a:solidFill>
                  <a:schemeClr val="tx1"/>
                </a:solidFill>
              </a:rPr>
              <a:t>Models still performed well without BP </a:t>
            </a:r>
            <a:r>
              <a:rPr lang="en-US" sz="3000" dirty="0">
                <a:solidFill>
                  <a:schemeClr val="tx1"/>
                </a:solidFill>
              </a:rPr>
              <a:t>(AUC ≈ 0.93)</a:t>
            </a:r>
          </a:p>
          <a:p>
            <a:pPr marL="571500" indent="-571500">
              <a:buFont typeface="Arial" panose="020B0604020202020204" pitchFamily="34" charset="0"/>
              <a:buChar char="•"/>
            </a:pPr>
            <a:r>
              <a:rPr lang="en-US" sz="3000" dirty="0">
                <a:solidFill>
                  <a:schemeClr val="tx1"/>
                </a:solidFill>
              </a:rPr>
              <a:t>Other factors (age, kidney function, lifestyle) also contribute to risk prediction</a:t>
            </a:r>
          </a:p>
          <a:p>
            <a:endParaRPr lang="en-US" sz="3000" dirty="0">
              <a:solidFill>
                <a:schemeClr val="tx1"/>
              </a:solidFill>
            </a:endParaRPr>
          </a:p>
          <a:p>
            <a:r>
              <a:rPr lang="en-US" sz="3000" b="1" dirty="0">
                <a:solidFill>
                  <a:schemeClr val="tx1"/>
                </a:solidFill>
              </a:rPr>
              <a:t>Top Predictors:</a:t>
            </a:r>
          </a:p>
          <a:p>
            <a:pPr marL="342900" indent="-342900">
              <a:buFont typeface="Arial" panose="020B0604020202020204" pitchFamily="34" charset="0"/>
              <a:buChar char="•"/>
            </a:pPr>
            <a:r>
              <a:rPr lang="en-US" sz="3000" dirty="0">
                <a:solidFill>
                  <a:schemeClr val="tx1"/>
                </a:solidFill>
              </a:rPr>
              <a:t>Systolic/Diastolic blood pressure</a:t>
            </a:r>
          </a:p>
          <a:p>
            <a:pPr marL="342900" indent="-342900">
              <a:buFont typeface="Arial" panose="020B0604020202020204" pitchFamily="34" charset="0"/>
              <a:buChar char="•"/>
            </a:pPr>
            <a:r>
              <a:rPr lang="en-US" sz="3000" dirty="0">
                <a:solidFill>
                  <a:schemeClr val="tx1"/>
                </a:solidFill>
              </a:rPr>
              <a:t>Age</a:t>
            </a:r>
          </a:p>
          <a:p>
            <a:pPr marL="342900" indent="-342900">
              <a:buFont typeface="Arial" panose="020B0604020202020204" pitchFamily="34" charset="0"/>
              <a:buChar char="•"/>
            </a:pPr>
            <a:r>
              <a:rPr lang="en-US" sz="3000" dirty="0">
                <a:solidFill>
                  <a:schemeClr val="tx1"/>
                </a:solidFill>
              </a:rPr>
              <a:t>BMI &amp; Weight</a:t>
            </a:r>
          </a:p>
          <a:p>
            <a:pPr marL="342900" indent="-342900">
              <a:buFont typeface="Arial" panose="020B0604020202020204" pitchFamily="34" charset="0"/>
              <a:buChar char="•"/>
            </a:pPr>
            <a:r>
              <a:rPr lang="en-US" sz="3000" dirty="0">
                <a:solidFill>
                  <a:schemeClr val="tx1"/>
                </a:solidFill>
              </a:rPr>
              <a:t>Kidney function indicators</a:t>
            </a:r>
          </a:p>
          <a:p>
            <a:pPr marL="342900" indent="-342900">
              <a:buFont typeface="Arial" panose="020B0604020202020204" pitchFamily="34" charset="0"/>
              <a:buChar char="•"/>
            </a:pPr>
            <a:r>
              <a:rPr lang="en-US" sz="3000" dirty="0">
                <a:solidFill>
                  <a:schemeClr val="tx1"/>
                </a:solidFill>
              </a:rPr>
              <a:t>Sleep disorder indicators</a:t>
            </a:r>
          </a:p>
          <a:p>
            <a:pPr marL="342900" indent="-342900">
              <a:buFont typeface="Arial" panose="020B0604020202020204" pitchFamily="34" charset="0"/>
              <a:buChar char="•"/>
            </a:pPr>
            <a:r>
              <a:rPr lang="en-US" sz="3000" dirty="0">
                <a:solidFill>
                  <a:schemeClr val="tx1"/>
                </a:solidFill>
              </a:rPr>
              <a:t>Cholesterol </a:t>
            </a:r>
          </a:p>
          <a:p>
            <a:pPr marL="342900" indent="-342900">
              <a:buFont typeface="Arial" panose="020B0604020202020204" pitchFamily="34" charset="0"/>
              <a:buChar char="•"/>
            </a:pPr>
            <a:r>
              <a:rPr lang="en-US" sz="3000" dirty="0">
                <a:solidFill>
                  <a:schemeClr val="tx1"/>
                </a:solidFill>
              </a:rPr>
              <a:t>Waist circumference </a:t>
            </a:r>
          </a:p>
          <a:p>
            <a:pPr marL="342900" indent="-342900">
              <a:buFont typeface="Arial" panose="020B0604020202020204" pitchFamily="34" charset="0"/>
              <a:buChar char="•"/>
            </a:pPr>
            <a:r>
              <a:rPr lang="en-US" sz="3000" dirty="0">
                <a:solidFill>
                  <a:schemeClr val="tx1"/>
                </a:solidFill>
              </a:rPr>
              <a:t>Glycohemoglobin </a:t>
            </a:r>
          </a:p>
          <a:p>
            <a:pPr marL="342900" indent="-342900">
              <a:buFont typeface="Arial" panose="020B0604020202020204" pitchFamily="34" charset="0"/>
              <a:buChar char="•"/>
            </a:pPr>
            <a:r>
              <a:rPr lang="en-US" sz="3000" dirty="0">
                <a:solidFill>
                  <a:schemeClr val="tx1"/>
                </a:solidFill>
              </a:rPr>
              <a:t>Poverty income ratio</a:t>
            </a:r>
          </a:p>
          <a:p>
            <a:pPr marL="342900" indent="-342900">
              <a:buFont typeface="Arial" panose="020B0604020202020204" pitchFamily="34" charset="0"/>
              <a:buChar char="•"/>
            </a:pPr>
            <a:r>
              <a:rPr lang="en-US" sz="3000" dirty="0">
                <a:solidFill>
                  <a:schemeClr val="tx1"/>
                </a:solidFill>
              </a:rPr>
              <a:t>Education level</a:t>
            </a:r>
          </a:p>
        </p:txBody>
      </p:sp>
      <p:sp>
        <p:nvSpPr>
          <p:cNvPr id="24" name="Text Placeholder 94">
            <a:extLst>
              <a:ext uri="{FF2B5EF4-FFF2-40B4-BE49-F238E27FC236}">
                <a16:creationId xmlns:a16="http://schemas.microsoft.com/office/drawing/2014/main" id="{729397F6-8E29-E1E2-515C-BA3E745ED5E3}"/>
              </a:ext>
            </a:extLst>
          </p:cNvPr>
          <p:cNvSpPr txBox="1">
            <a:spLocks/>
          </p:cNvSpPr>
          <p:nvPr/>
        </p:nvSpPr>
        <p:spPr>
          <a:xfrm>
            <a:off x="10900207" y="29499450"/>
            <a:ext cx="10047018" cy="1846637"/>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000" dirty="0">
                <a:solidFill>
                  <a:schemeClr val="tx1"/>
                </a:solidFill>
              </a:rPr>
              <a:t>Model performance decreased when blood pressure variables were removed, highlighting the importance of feature selection and data availability in predictive modeling.</a:t>
            </a:r>
          </a:p>
        </p:txBody>
      </p:sp>
      <p:graphicFrame>
        <p:nvGraphicFramePr>
          <p:cNvPr id="6" name="Table 5">
            <a:extLst>
              <a:ext uri="{FF2B5EF4-FFF2-40B4-BE49-F238E27FC236}">
                <a16:creationId xmlns:a16="http://schemas.microsoft.com/office/drawing/2014/main" id="{D0F8F378-8048-8F76-972E-C5A96193CD2A}"/>
              </a:ext>
            </a:extLst>
          </p:cNvPr>
          <p:cNvGraphicFramePr>
            <a:graphicFrameLocks noGrp="1"/>
          </p:cNvGraphicFramePr>
          <p:nvPr>
            <p:extLst>
              <p:ext uri="{D42A27DB-BD31-4B8C-83A1-F6EECF244321}">
                <p14:modId xmlns:p14="http://schemas.microsoft.com/office/powerpoint/2010/main" val="4106703662"/>
              </p:ext>
            </p:extLst>
          </p:nvPr>
        </p:nvGraphicFramePr>
        <p:xfrm>
          <a:off x="10995048" y="25876651"/>
          <a:ext cx="9998178" cy="3507972"/>
        </p:xfrm>
        <a:graphic>
          <a:graphicData uri="http://schemas.openxmlformats.org/drawingml/2006/table">
            <a:tbl>
              <a:tblPr firstRow="1" bandRow="1">
                <a:tableStyleId>{5C22544A-7EE6-4342-B048-85BDC9FD1C3A}</a:tableStyleId>
              </a:tblPr>
              <a:tblGrid>
                <a:gridCol w="3384831">
                  <a:extLst>
                    <a:ext uri="{9D8B030D-6E8A-4147-A177-3AD203B41FA5}">
                      <a16:colId xmlns:a16="http://schemas.microsoft.com/office/drawing/2014/main" val="4152975231"/>
                    </a:ext>
                  </a:extLst>
                </a:gridCol>
                <a:gridCol w="2592888">
                  <a:extLst>
                    <a:ext uri="{9D8B030D-6E8A-4147-A177-3AD203B41FA5}">
                      <a16:colId xmlns:a16="http://schemas.microsoft.com/office/drawing/2014/main" val="3082852615"/>
                    </a:ext>
                  </a:extLst>
                </a:gridCol>
                <a:gridCol w="2267211">
                  <a:extLst>
                    <a:ext uri="{9D8B030D-6E8A-4147-A177-3AD203B41FA5}">
                      <a16:colId xmlns:a16="http://schemas.microsoft.com/office/drawing/2014/main" val="2823238623"/>
                    </a:ext>
                  </a:extLst>
                </a:gridCol>
                <a:gridCol w="1753248">
                  <a:extLst>
                    <a:ext uri="{9D8B030D-6E8A-4147-A177-3AD203B41FA5}">
                      <a16:colId xmlns:a16="http://schemas.microsoft.com/office/drawing/2014/main" val="101330218"/>
                    </a:ext>
                  </a:extLst>
                </a:gridCol>
              </a:tblGrid>
              <a:tr h="584662">
                <a:tc>
                  <a:txBody>
                    <a:bodyPr/>
                    <a:lstStyle/>
                    <a:p>
                      <a:r>
                        <a:rPr lang="en-US" sz="3000" dirty="0">
                          <a:solidFill>
                            <a:schemeClr val="tx1"/>
                          </a:solidFill>
                        </a:rPr>
                        <a:t>Model</a:t>
                      </a:r>
                    </a:p>
                  </a:txBody>
                  <a:tcPr>
                    <a:solidFill>
                      <a:srgbClr val="DB6377"/>
                    </a:solidFill>
                  </a:tcPr>
                </a:tc>
                <a:tc>
                  <a:txBody>
                    <a:bodyPr/>
                    <a:lstStyle/>
                    <a:p>
                      <a:r>
                        <a:rPr lang="en-US" sz="3000" dirty="0">
                          <a:solidFill>
                            <a:schemeClr val="tx1"/>
                          </a:solidFill>
                        </a:rPr>
                        <a:t>Variables</a:t>
                      </a:r>
                    </a:p>
                  </a:txBody>
                  <a:tcPr>
                    <a:solidFill>
                      <a:srgbClr val="DB6377"/>
                    </a:solidFill>
                  </a:tcPr>
                </a:tc>
                <a:tc>
                  <a:txBody>
                    <a:bodyPr/>
                    <a:lstStyle/>
                    <a:p>
                      <a:r>
                        <a:rPr lang="en-US" sz="3000" dirty="0">
                          <a:solidFill>
                            <a:schemeClr val="tx1"/>
                          </a:solidFill>
                        </a:rPr>
                        <a:t>Accuracy</a:t>
                      </a:r>
                    </a:p>
                  </a:txBody>
                  <a:tcPr>
                    <a:solidFill>
                      <a:srgbClr val="DB6377"/>
                    </a:solidFill>
                  </a:tcPr>
                </a:tc>
                <a:tc>
                  <a:txBody>
                    <a:bodyPr/>
                    <a:lstStyle/>
                    <a:p>
                      <a:r>
                        <a:rPr lang="en-US" sz="3000" dirty="0">
                          <a:solidFill>
                            <a:schemeClr val="tx1"/>
                          </a:solidFill>
                        </a:rPr>
                        <a:t>AUC</a:t>
                      </a:r>
                    </a:p>
                  </a:txBody>
                  <a:tcPr>
                    <a:solidFill>
                      <a:srgbClr val="DB6377"/>
                    </a:solidFill>
                  </a:tcPr>
                </a:tc>
                <a:extLst>
                  <a:ext uri="{0D108BD9-81ED-4DB2-BD59-A6C34878D82A}">
                    <a16:rowId xmlns:a16="http://schemas.microsoft.com/office/drawing/2014/main" val="1951960849"/>
                  </a:ext>
                </a:extLst>
              </a:tr>
              <a:tr h="584662">
                <a:tc>
                  <a:txBody>
                    <a:bodyPr/>
                    <a:lstStyle/>
                    <a:p>
                      <a:r>
                        <a:rPr lang="en-US" sz="3000" dirty="0"/>
                        <a:t>Logistic Regression</a:t>
                      </a:r>
                    </a:p>
                  </a:txBody>
                  <a:tcPr>
                    <a:solidFill>
                      <a:srgbClr val="ECAAB5"/>
                    </a:solidFill>
                  </a:tcPr>
                </a:tc>
                <a:tc>
                  <a:txBody>
                    <a:bodyPr/>
                    <a:lstStyle/>
                    <a:p>
                      <a:r>
                        <a:rPr lang="en-US" sz="3000" dirty="0"/>
                        <a:t>With BP</a:t>
                      </a:r>
                    </a:p>
                  </a:txBody>
                  <a:tcPr>
                    <a:solidFill>
                      <a:srgbClr val="ECAAB5"/>
                    </a:solidFill>
                  </a:tcPr>
                </a:tc>
                <a:tc>
                  <a:txBody>
                    <a:bodyPr/>
                    <a:lstStyle/>
                    <a:p>
                      <a:r>
                        <a:rPr lang="en-US" sz="3000" dirty="0"/>
                        <a:t>0.89</a:t>
                      </a:r>
                    </a:p>
                  </a:txBody>
                  <a:tcPr>
                    <a:solidFill>
                      <a:srgbClr val="ECAAB5"/>
                    </a:solidFill>
                  </a:tcPr>
                </a:tc>
                <a:tc>
                  <a:txBody>
                    <a:bodyPr/>
                    <a:lstStyle/>
                    <a:p>
                      <a:r>
                        <a:rPr lang="en-US" sz="3000" dirty="0"/>
                        <a:t>0.96</a:t>
                      </a:r>
                    </a:p>
                  </a:txBody>
                  <a:tcPr>
                    <a:solidFill>
                      <a:srgbClr val="ECAAB5"/>
                    </a:solidFill>
                  </a:tcPr>
                </a:tc>
                <a:extLst>
                  <a:ext uri="{0D108BD9-81ED-4DB2-BD59-A6C34878D82A}">
                    <a16:rowId xmlns:a16="http://schemas.microsoft.com/office/drawing/2014/main" val="2303792047"/>
                  </a:ext>
                </a:extLst>
              </a:tr>
              <a:tr h="584662">
                <a:tc>
                  <a:txBody>
                    <a:bodyPr/>
                    <a:lstStyle/>
                    <a:p>
                      <a:r>
                        <a:rPr lang="en-US" sz="3000" dirty="0"/>
                        <a:t>Random Forest</a:t>
                      </a:r>
                    </a:p>
                  </a:txBody>
                  <a:tcPr>
                    <a:solidFill>
                      <a:srgbClr val="F2C6CD"/>
                    </a:solidFill>
                  </a:tcPr>
                </a:tc>
                <a:tc>
                  <a:txBody>
                    <a:bodyPr/>
                    <a:lstStyle/>
                    <a:p>
                      <a:r>
                        <a:rPr lang="en-US" sz="3000" dirty="0"/>
                        <a:t>With BP</a:t>
                      </a:r>
                    </a:p>
                  </a:txBody>
                  <a:tcPr>
                    <a:solidFill>
                      <a:srgbClr val="F2C6CD"/>
                    </a:solidFill>
                  </a:tcPr>
                </a:tc>
                <a:tc>
                  <a:txBody>
                    <a:bodyPr/>
                    <a:lstStyle/>
                    <a:p>
                      <a:r>
                        <a:rPr lang="en-US" sz="3000" dirty="0"/>
                        <a:t>0.92</a:t>
                      </a:r>
                    </a:p>
                  </a:txBody>
                  <a:tcPr>
                    <a:solidFill>
                      <a:srgbClr val="F2C6CD"/>
                    </a:solidFill>
                  </a:tcPr>
                </a:tc>
                <a:tc>
                  <a:txBody>
                    <a:bodyPr/>
                    <a:lstStyle/>
                    <a:p>
                      <a:r>
                        <a:rPr lang="en-US" sz="3000" dirty="0"/>
                        <a:t>0.97</a:t>
                      </a:r>
                    </a:p>
                  </a:txBody>
                  <a:tcPr>
                    <a:solidFill>
                      <a:srgbClr val="F2C6CD"/>
                    </a:solidFill>
                  </a:tcPr>
                </a:tc>
                <a:extLst>
                  <a:ext uri="{0D108BD9-81ED-4DB2-BD59-A6C34878D82A}">
                    <a16:rowId xmlns:a16="http://schemas.microsoft.com/office/drawing/2014/main" val="2758265085"/>
                  </a:ext>
                </a:extLst>
              </a:tr>
              <a:tr h="584662">
                <a:tc>
                  <a:txBody>
                    <a:bodyPr/>
                    <a:lstStyle/>
                    <a:p>
                      <a:r>
                        <a:rPr lang="en-US" sz="3000" b="1" dirty="0"/>
                        <a:t>Gradient Boosting</a:t>
                      </a:r>
                    </a:p>
                  </a:txBody>
                  <a:tcPr>
                    <a:solidFill>
                      <a:srgbClr val="ECAAB5"/>
                    </a:solidFill>
                  </a:tcPr>
                </a:tc>
                <a:tc>
                  <a:txBody>
                    <a:bodyPr/>
                    <a:lstStyle/>
                    <a:p>
                      <a:r>
                        <a:rPr lang="en-US" sz="3000" b="1" dirty="0"/>
                        <a:t>With BP</a:t>
                      </a:r>
                    </a:p>
                  </a:txBody>
                  <a:tcPr>
                    <a:solidFill>
                      <a:srgbClr val="ECAAB5"/>
                    </a:solidFill>
                  </a:tcPr>
                </a:tc>
                <a:tc>
                  <a:txBody>
                    <a:bodyPr/>
                    <a:lstStyle/>
                    <a:p>
                      <a:r>
                        <a:rPr lang="en-US" sz="3000" b="1" dirty="0"/>
                        <a:t>0.93</a:t>
                      </a:r>
                    </a:p>
                  </a:txBody>
                  <a:tcPr>
                    <a:solidFill>
                      <a:srgbClr val="ECAAB5"/>
                    </a:solidFill>
                  </a:tcPr>
                </a:tc>
                <a:tc>
                  <a:txBody>
                    <a:bodyPr/>
                    <a:lstStyle/>
                    <a:p>
                      <a:r>
                        <a:rPr lang="en-US" sz="3000" b="1" dirty="0"/>
                        <a:t>0.98</a:t>
                      </a:r>
                    </a:p>
                  </a:txBody>
                  <a:tcPr>
                    <a:solidFill>
                      <a:srgbClr val="ECAAB5"/>
                    </a:solidFill>
                  </a:tcPr>
                </a:tc>
                <a:extLst>
                  <a:ext uri="{0D108BD9-81ED-4DB2-BD59-A6C34878D82A}">
                    <a16:rowId xmlns:a16="http://schemas.microsoft.com/office/drawing/2014/main" val="337151196"/>
                  </a:ext>
                </a:extLst>
              </a:tr>
              <a:tr h="584662">
                <a:tc>
                  <a:txBody>
                    <a:bodyPr/>
                    <a:lstStyle/>
                    <a:p>
                      <a:r>
                        <a:rPr lang="en-US" sz="3000" dirty="0"/>
                        <a:t>Random Forest</a:t>
                      </a:r>
                    </a:p>
                  </a:txBody>
                  <a:tcPr>
                    <a:solidFill>
                      <a:srgbClr val="F2C6CD"/>
                    </a:solidFill>
                  </a:tcPr>
                </a:tc>
                <a:tc>
                  <a:txBody>
                    <a:bodyPr/>
                    <a:lstStyle/>
                    <a:p>
                      <a:r>
                        <a:rPr lang="en-US" sz="3000" dirty="0"/>
                        <a:t>Without BP</a:t>
                      </a:r>
                    </a:p>
                  </a:txBody>
                  <a:tcPr>
                    <a:solidFill>
                      <a:srgbClr val="F2C6CD"/>
                    </a:solidFill>
                  </a:tcPr>
                </a:tc>
                <a:tc>
                  <a:txBody>
                    <a:bodyPr/>
                    <a:lstStyle/>
                    <a:p>
                      <a:r>
                        <a:rPr lang="en-US" sz="3000" dirty="0"/>
                        <a:t>0.84</a:t>
                      </a:r>
                    </a:p>
                  </a:txBody>
                  <a:tcPr>
                    <a:solidFill>
                      <a:srgbClr val="F2C6CD"/>
                    </a:solidFill>
                  </a:tcPr>
                </a:tc>
                <a:tc>
                  <a:txBody>
                    <a:bodyPr/>
                    <a:lstStyle/>
                    <a:p>
                      <a:r>
                        <a:rPr lang="en-US" sz="3000" dirty="0"/>
                        <a:t>0.92</a:t>
                      </a:r>
                    </a:p>
                  </a:txBody>
                  <a:tcPr>
                    <a:solidFill>
                      <a:srgbClr val="F2C6CD"/>
                    </a:solidFill>
                  </a:tcPr>
                </a:tc>
                <a:extLst>
                  <a:ext uri="{0D108BD9-81ED-4DB2-BD59-A6C34878D82A}">
                    <a16:rowId xmlns:a16="http://schemas.microsoft.com/office/drawing/2014/main" val="3303031699"/>
                  </a:ext>
                </a:extLst>
              </a:tr>
              <a:tr h="584662">
                <a:tc>
                  <a:txBody>
                    <a:bodyPr/>
                    <a:lstStyle/>
                    <a:p>
                      <a:r>
                        <a:rPr lang="en-US" sz="3000" dirty="0"/>
                        <a:t>Gradient Boosting</a:t>
                      </a:r>
                    </a:p>
                  </a:txBody>
                  <a:tcPr>
                    <a:solidFill>
                      <a:srgbClr val="ECAAB5"/>
                    </a:solidFill>
                  </a:tcPr>
                </a:tc>
                <a:tc>
                  <a:txBody>
                    <a:bodyPr/>
                    <a:lstStyle/>
                    <a:p>
                      <a:r>
                        <a:rPr lang="en-US" sz="3000" dirty="0"/>
                        <a:t>Without BP</a:t>
                      </a:r>
                    </a:p>
                  </a:txBody>
                  <a:tcPr>
                    <a:solidFill>
                      <a:srgbClr val="ECAAB5"/>
                    </a:solidFill>
                  </a:tcPr>
                </a:tc>
                <a:tc>
                  <a:txBody>
                    <a:bodyPr/>
                    <a:lstStyle/>
                    <a:p>
                      <a:r>
                        <a:rPr lang="en-US" sz="3000" dirty="0"/>
                        <a:t>0.86</a:t>
                      </a:r>
                    </a:p>
                  </a:txBody>
                  <a:tcPr>
                    <a:solidFill>
                      <a:srgbClr val="ECAAB5"/>
                    </a:solidFill>
                  </a:tcPr>
                </a:tc>
                <a:tc>
                  <a:txBody>
                    <a:bodyPr/>
                    <a:lstStyle/>
                    <a:p>
                      <a:r>
                        <a:rPr lang="en-US" sz="3000" dirty="0"/>
                        <a:t>0.93</a:t>
                      </a:r>
                    </a:p>
                  </a:txBody>
                  <a:tcPr>
                    <a:solidFill>
                      <a:srgbClr val="ECAAB5"/>
                    </a:solidFill>
                  </a:tcPr>
                </a:tc>
                <a:extLst>
                  <a:ext uri="{0D108BD9-81ED-4DB2-BD59-A6C34878D82A}">
                    <a16:rowId xmlns:a16="http://schemas.microsoft.com/office/drawing/2014/main" val="2179012504"/>
                  </a:ext>
                </a:extLst>
              </a:tr>
            </a:tbl>
          </a:graphicData>
        </a:graphic>
      </p:graphicFrame>
      <p:sp>
        <p:nvSpPr>
          <p:cNvPr id="7" name="Text Placeholder 89">
            <a:extLst>
              <a:ext uri="{FF2B5EF4-FFF2-40B4-BE49-F238E27FC236}">
                <a16:creationId xmlns:a16="http://schemas.microsoft.com/office/drawing/2014/main" id="{40FADA52-675D-5E50-8F2A-0955F5246320}"/>
              </a:ext>
            </a:extLst>
          </p:cNvPr>
          <p:cNvSpPr txBox="1">
            <a:spLocks/>
          </p:cNvSpPr>
          <p:nvPr/>
        </p:nvSpPr>
        <p:spPr>
          <a:xfrm>
            <a:off x="21750969" y="10092442"/>
            <a:ext cx="10048874" cy="784808"/>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100" dirty="0">
                <a:solidFill>
                  <a:schemeClr val="tx1"/>
                </a:solidFill>
              </a:rPr>
              <a:t>Best performance achieved using Gradient Boosting with BP variables. </a:t>
            </a:r>
          </a:p>
        </p:txBody>
      </p:sp>
      <p:pic>
        <p:nvPicPr>
          <p:cNvPr id="17" name="Picture 16">
            <a:extLst>
              <a:ext uri="{FF2B5EF4-FFF2-40B4-BE49-F238E27FC236}">
                <a16:creationId xmlns:a16="http://schemas.microsoft.com/office/drawing/2014/main" id="{E80A9029-0131-D564-EE48-C262B678605F}"/>
              </a:ext>
            </a:extLst>
          </p:cNvPr>
          <p:cNvPicPr>
            <a:picLocks noChangeAspect="1"/>
          </p:cNvPicPr>
          <p:nvPr/>
        </p:nvPicPr>
        <p:blipFill>
          <a:blip r:embed="rId3"/>
          <a:stretch>
            <a:fillRect/>
          </a:stretch>
        </p:blipFill>
        <p:spPr>
          <a:xfrm>
            <a:off x="32198713" y="6487302"/>
            <a:ext cx="10740058" cy="7088437"/>
          </a:xfrm>
          <a:prstGeom prst="rect">
            <a:avLst/>
          </a:prstGeom>
          <a:ln w="76200">
            <a:solidFill>
              <a:srgbClr val="CB2F49"/>
            </a:solidFill>
          </a:ln>
        </p:spPr>
      </p:pic>
      <p:pic>
        <p:nvPicPr>
          <p:cNvPr id="19" name="Picture 18">
            <a:extLst>
              <a:ext uri="{FF2B5EF4-FFF2-40B4-BE49-F238E27FC236}">
                <a16:creationId xmlns:a16="http://schemas.microsoft.com/office/drawing/2014/main" id="{C409A6F6-786E-6A20-9B80-21DA60D2200E}"/>
              </a:ext>
            </a:extLst>
          </p:cNvPr>
          <p:cNvPicPr>
            <a:picLocks noChangeAspect="1"/>
          </p:cNvPicPr>
          <p:nvPr/>
        </p:nvPicPr>
        <p:blipFill>
          <a:blip r:embed="rId4"/>
          <a:stretch>
            <a:fillRect/>
          </a:stretch>
        </p:blipFill>
        <p:spPr>
          <a:xfrm>
            <a:off x="32073935" y="14697626"/>
            <a:ext cx="10864835" cy="7390982"/>
          </a:xfrm>
          <a:prstGeom prst="rect">
            <a:avLst/>
          </a:prstGeom>
          <a:ln w="76200">
            <a:solidFill>
              <a:srgbClr val="CB2F49"/>
            </a:solidFill>
          </a:ln>
        </p:spPr>
      </p:pic>
      <p:sp>
        <p:nvSpPr>
          <p:cNvPr id="25" name="Text Placeholder 89">
            <a:extLst>
              <a:ext uri="{FF2B5EF4-FFF2-40B4-BE49-F238E27FC236}">
                <a16:creationId xmlns:a16="http://schemas.microsoft.com/office/drawing/2014/main" id="{8FD94B12-222B-2039-2596-DB7D1E1A4F69}"/>
              </a:ext>
            </a:extLst>
          </p:cNvPr>
          <p:cNvSpPr txBox="1">
            <a:spLocks/>
          </p:cNvSpPr>
          <p:nvPr/>
        </p:nvSpPr>
        <p:spPr>
          <a:xfrm>
            <a:off x="32222639" y="22123698"/>
            <a:ext cx="10303384" cy="784808"/>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100" dirty="0">
                <a:solidFill>
                  <a:schemeClr val="tx1"/>
                </a:solidFill>
              </a:rPr>
              <a:t>Gradient Boosting feature importance excluding systolic/diastolic blood pressure and age. </a:t>
            </a:r>
          </a:p>
        </p:txBody>
      </p:sp>
      <p:pic>
        <p:nvPicPr>
          <p:cNvPr id="16" name="Picture 15">
            <a:extLst>
              <a:ext uri="{FF2B5EF4-FFF2-40B4-BE49-F238E27FC236}">
                <a16:creationId xmlns:a16="http://schemas.microsoft.com/office/drawing/2014/main" id="{5EA7AA52-8DC8-F4BA-C0BB-7AA91DF7FAC1}"/>
              </a:ext>
            </a:extLst>
          </p:cNvPr>
          <p:cNvPicPr>
            <a:picLocks noChangeAspect="1"/>
          </p:cNvPicPr>
          <p:nvPr/>
        </p:nvPicPr>
        <p:blipFill>
          <a:blip r:embed="rId5"/>
          <a:stretch>
            <a:fillRect/>
          </a:stretch>
        </p:blipFill>
        <p:spPr>
          <a:xfrm>
            <a:off x="11089776" y="16708379"/>
            <a:ext cx="9886208" cy="7696874"/>
          </a:xfrm>
          <a:prstGeom prst="rect">
            <a:avLst/>
          </a:prstGeom>
          <a:ln w="76200">
            <a:solidFill>
              <a:srgbClr val="CB2F49"/>
            </a:solidFill>
            <a:extLst>
              <a:ext uri="{C807C97D-BFC1-408E-A445-0C87EB9F89A2}">
                <ask:lineSketchStyleProps xmlns:ask="http://schemas.microsoft.com/office/drawing/2018/sketchyshapes" sd="1219033472">
                  <a:custGeom>
                    <a:avLst/>
                    <a:gdLst>
                      <a:gd name="csX0" fmla="*/ 0 w 9104705"/>
                      <a:gd name="csY0" fmla="*/ 0 h 7088437"/>
                      <a:gd name="csX1" fmla="*/ 751138 w 9104705"/>
                      <a:gd name="csY1" fmla="*/ 0 h 7088437"/>
                      <a:gd name="csX2" fmla="*/ 1320182 w 9104705"/>
                      <a:gd name="csY2" fmla="*/ 0 h 7088437"/>
                      <a:gd name="csX3" fmla="*/ 1616085 w 9104705"/>
                      <a:gd name="csY3" fmla="*/ 0 h 7088437"/>
                      <a:gd name="csX4" fmla="*/ 2276176 w 9104705"/>
                      <a:gd name="csY4" fmla="*/ 0 h 7088437"/>
                      <a:gd name="csX5" fmla="*/ 2572079 w 9104705"/>
                      <a:gd name="csY5" fmla="*/ 0 h 7088437"/>
                      <a:gd name="csX6" fmla="*/ 3141123 w 9104705"/>
                      <a:gd name="csY6" fmla="*/ 0 h 7088437"/>
                      <a:gd name="csX7" fmla="*/ 3892261 w 9104705"/>
                      <a:gd name="csY7" fmla="*/ 0 h 7088437"/>
                      <a:gd name="csX8" fmla="*/ 4643400 w 9104705"/>
                      <a:gd name="csY8" fmla="*/ 0 h 7088437"/>
                      <a:gd name="csX9" fmla="*/ 5303491 w 9104705"/>
                      <a:gd name="csY9" fmla="*/ 0 h 7088437"/>
                      <a:gd name="csX10" fmla="*/ 5781488 w 9104705"/>
                      <a:gd name="csY10" fmla="*/ 0 h 7088437"/>
                      <a:gd name="csX11" fmla="*/ 6077391 w 9104705"/>
                      <a:gd name="csY11" fmla="*/ 0 h 7088437"/>
                      <a:gd name="csX12" fmla="*/ 6555388 w 9104705"/>
                      <a:gd name="csY12" fmla="*/ 0 h 7088437"/>
                      <a:gd name="csX13" fmla="*/ 7215479 w 9104705"/>
                      <a:gd name="csY13" fmla="*/ 0 h 7088437"/>
                      <a:gd name="csX14" fmla="*/ 7966617 w 9104705"/>
                      <a:gd name="csY14" fmla="*/ 0 h 7088437"/>
                      <a:gd name="csX15" fmla="*/ 8262520 w 9104705"/>
                      <a:gd name="csY15" fmla="*/ 0 h 7088437"/>
                      <a:gd name="csX16" fmla="*/ 8558423 w 9104705"/>
                      <a:gd name="csY16" fmla="*/ 0 h 7088437"/>
                      <a:gd name="csX17" fmla="*/ 9104705 w 9104705"/>
                      <a:gd name="csY17" fmla="*/ 0 h 7088437"/>
                      <a:gd name="csX18" fmla="*/ 9104705 w 9104705"/>
                      <a:gd name="csY18" fmla="*/ 378050 h 7088437"/>
                      <a:gd name="csX19" fmla="*/ 9104705 w 9104705"/>
                      <a:gd name="csY19" fmla="*/ 1039637 h 7088437"/>
                      <a:gd name="csX20" fmla="*/ 9104705 w 9104705"/>
                      <a:gd name="csY20" fmla="*/ 1772109 h 7088437"/>
                      <a:gd name="csX21" fmla="*/ 9104705 w 9104705"/>
                      <a:gd name="csY21" fmla="*/ 2150159 h 7088437"/>
                      <a:gd name="csX22" fmla="*/ 9104705 w 9104705"/>
                      <a:gd name="csY22" fmla="*/ 2882631 h 7088437"/>
                      <a:gd name="csX23" fmla="*/ 9104705 w 9104705"/>
                      <a:gd name="csY23" fmla="*/ 3615103 h 7088437"/>
                      <a:gd name="csX24" fmla="*/ 9104705 w 9104705"/>
                      <a:gd name="csY24" fmla="*/ 3993153 h 7088437"/>
                      <a:gd name="csX25" fmla="*/ 9104705 w 9104705"/>
                      <a:gd name="csY25" fmla="*/ 4583856 h 7088437"/>
                      <a:gd name="csX26" fmla="*/ 9104705 w 9104705"/>
                      <a:gd name="csY26" fmla="*/ 5103675 h 7088437"/>
                      <a:gd name="csX27" fmla="*/ 9104705 w 9104705"/>
                      <a:gd name="csY27" fmla="*/ 5623493 h 7088437"/>
                      <a:gd name="csX28" fmla="*/ 9104705 w 9104705"/>
                      <a:gd name="csY28" fmla="*/ 6143312 h 7088437"/>
                      <a:gd name="csX29" fmla="*/ 9104705 w 9104705"/>
                      <a:gd name="csY29" fmla="*/ 6521362 h 7088437"/>
                      <a:gd name="csX30" fmla="*/ 9104705 w 9104705"/>
                      <a:gd name="csY30" fmla="*/ 7088437 h 7088437"/>
                      <a:gd name="csX31" fmla="*/ 8353567 w 9104705"/>
                      <a:gd name="csY31" fmla="*/ 7088437 h 7088437"/>
                      <a:gd name="csX32" fmla="*/ 7784523 w 9104705"/>
                      <a:gd name="csY32" fmla="*/ 7088437 h 7088437"/>
                      <a:gd name="csX33" fmla="*/ 7033385 w 9104705"/>
                      <a:gd name="csY33" fmla="*/ 7088437 h 7088437"/>
                      <a:gd name="csX34" fmla="*/ 6282246 w 9104705"/>
                      <a:gd name="csY34" fmla="*/ 7088437 h 7088437"/>
                      <a:gd name="csX35" fmla="*/ 5895296 w 9104705"/>
                      <a:gd name="csY35" fmla="*/ 7088437 h 7088437"/>
                      <a:gd name="csX36" fmla="*/ 5417299 w 9104705"/>
                      <a:gd name="csY36" fmla="*/ 7088437 h 7088437"/>
                      <a:gd name="csX37" fmla="*/ 4848255 w 9104705"/>
                      <a:gd name="csY37" fmla="*/ 7088437 h 7088437"/>
                      <a:gd name="csX38" fmla="*/ 4279211 w 9104705"/>
                      <a:gd name="csY38" fmla="*/ 7088437 h 7088437"/>
                      <a:gd name="csX39" fmla="*/ 3619120 w 9104705"/>
                      <a:gd name="csY39" fmla="*/ 7088437 h 7088437"/>
                      <a:gd name="csX40" fmla="*/ 3232170 w 9104705"/>
                      <a:gd name="csY40" fmla="*/ 7088437 h 7088437"/>
                      <a:gd name="csX41" fmla="*/ 2845220 w 9104705"/>
                      <a:gd name="csY41" fmla="*/ 7088437 h 7088437"/>
                      <a:gd name="csX42" fmla="*/ 2094082 w 9104705"/>
                      <a:gd name="csY42" fmla="*/ 7088437 h 7088437"/>
                      <a:gd name="csX43" fmla="*/ 1342944 w 9104705"/>
                      <a:gd name="csY43" fmla="*/ 7088437 h 7088437"/>
                      <a:gd name="csX44" fmla="*/ 773900 w 9104705"/>
                      <a:gd name="csY44" fmla="*/ 7088437 h 7088437"/>
                      <a:gd name="csX45" fmla="*/ 0 w 9104705"/>
                      <a:gd name="csY45" fmla="*/ 7088437 h 7088437"/>
                      <a:gd name="csX46" fmla="*/ 0 w 9104705"/>
                      <a:gd name="csY46" fmla="*/ 6710387 h 7088437"/>
                      <a:gd name="csX47" fmla="*/ 0 w 9104705"/>
                      <a:gd name="csY47" fmla="*/ 6119684 h 7088437"/>
                      <a:gd name="csX48" fmla="*/ 0 w 9104705"/>
                      <a:gd name="csY48" fmla="*/ 5528981 h 7088437"/>
                      <a:gd name="csX49" fmla="*/ 0 w 9104705"/>
                      <a:gd name="csY49" fmla="*/ 5009162 h 7088437"/>
                      <a:gd name="csX50" fmla="*/ 0 w 9104705"/>
                      <a:gd name="csY50" fmla="*/ 4489343 h 7088437"/>
                      <a:gd name="csX51" fmla="*/ 0 w 9104705"/>
                      <a:gd name="csY51" fmla="*/ 4111293 h 7088437"/>
                      <a:gd name="csX52" fmla="*/ 0 w 9104705"/>
                      <a:gd name="csY52" fmla="*/ 3733243 h 7088437"/>
                      <a:gd name="csX53" fmla="*/ 0 w 9104705"/>
                      <a:gd name="csY53" fmla="*/ 3355194 h 7088437"/>
                      <a:gd name="csX54" fmla="*/ 0 w 9104705"/>
                      <a:gd name="csY54" fmla="*/ 2977144 h 7088437"/>
                      <a:gd name="csX55" fmla="*/ 0 w 9104705"/>
                      <a:gd name="csY55" fmla="*/ 2599094 h 7088437"/>
                      <a:gd name="csX56" fmla="*/ 0 w 9104705"/>
                      <a:gd name="csY56" fmla="*/ 2079275 h 7088437"/>
                      <a:gd name="csX57" fmla="*/ 0 w 9104705"/>
                      <a:gd name="csY57" fmla="*/ 1701225 h 7088437"/>
                      <a:gd name="csX58" fmla="*/ 0 w 9104705"/>
                      <a:gd name="csY58" fmla="*/ 968753 h 7088437"/>
                      <a:gd name="csX59" fmla="*/ 0 w 9104705"/>
                      <a:gd name="csY59" fmla="*/ 590703 h 7088437"/>
                      <a:gd name="csX60" fmla="*/ 0 w 9104705"/>
                      <a:gd name="csY60" fmla="*/ 0 h 7088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9104705" h="7088437" fill="none" extrusionOk="0">
                        <a:moveTo>
                          <a:pt x="0" y="0"/>
                        </a:moveTo>
                        <a:cubicBezTo>
                          <a:pt x="361063" y="-3899"/>
                          <a:pt x="520800" y="33437"/>
                          <a:pt x="751138" y="0"/>
                        </a:cubicBezTo>
                        <a:cubicBezTo>
                          <a:pt x="981476" y="-33437"/>
                          <a:pt x="1161124" y="45070"/>
                          <a:pt x="1320182" y="0"/>
                        </a:cubicBezTo>
                        <a:cubicBezTo>
                          <a:pt x="1479240" y="-45070"/>
                          <a:pt x="1485107" y="24775"/>
                          <a:pt x="1616085" y="0"/>
                        </a:cubicBezTo>
                        <a:cubicBezTo>
                          <a:pt x="1747063" y="-24775"/>
                          <a:pt x="2102479" y="54865"/>
                          <a:pt x="2276176" y="0"/>
                        </a:cubicBezTo>
                        <a:cubicBezTo>
                          <a:pt x="2449873" y="-54865"/>
                          <a:pt x="2438055" y="10192"/>
                          <a:pt x="2572079" y="0"/>
                        </a:cubicBezTo>
                        <a:cubicBezTo>
                          <a:pt x="2706103" y="-10192"/>
                          <a:pt x="2984090" y="43264"/>
                          <a:pt x="3141123" y="0"/>
                        </a:cubicBezTo>
                        <a:cubicBezTo>
                          <a:pt x="3298156" y="-43264"/>
                          <a:pt x="3601892" y="56443"/>
                          <a:pt x="3892261" y="0"/>
                        </a:cubicBezTo>
                        <a:cubicBezTo>
                          <a:pt x="4182630" y="-56443"/>
                          <a:pt x="4269399" y="7289"/>
                          <a:pt x="4643400" y="0"/>
                        </a:cubicBezTo>
                        <a:cubicBezTo>
                          <a:pt x="5017401" y="-7289"/>
                          <a:pt x="5095953" y="47258"/>
                          <a:pt x="5303491" y="0"/>
                        </a:cubicBezTo>
                        <a:cubicBezTo>
                          <a:pt x="5511029" y="-47258"/>
                          <a:pt x="5557105" y="50965"/>
                          <a:pt x="5781488" y="0"/>
                        </a:cubicBezTo>
                        <a:cubicBezTo>
                          <a:pt x="6005871" y="-50965"/>
                          <a:pt x="5945917" y="23057"/>
                          <a:pt x="6077391" y="0"/>
                        </a:cubicBezTo>
                        <a:cubicBezTo>
                          <a:pt x="6208865" y="-23057"/>
                          <a:pt x="6353548" y="9451"/>
                          <a:pt x="6555388" y="0"/>
                        </a:cubicBezTo>
                        <a:cubicBezTo>
                          <a:pt x="6757228" y="-9451"/>
                          <a:pt x="7025089" y="24438"/>
                          <a:pt x="7215479" y="0"/>
                        </a:cubicBezTo>
                        <a:cubicBezTo>
                          <a:pt x="7405869" y="-24438"/>
                          <a:pt x="7735540" y="4699"/>
                          <a:pt x="7966617" y="0"/>
                        </a:cubicBezTo>
                        <a:cubicBezTo>
                          <a:pt x="8197694" y="-4699"/>
                          <a:pt x="8169272" y="28803"/>
                          <a:pt x="8262520" y="0"/>
                        </a:cubicBezTo>
                        <a:cubicBezTo>
                          <a:pt x="8355768" y="-28803"/>
                          <a:pt x="8465666" y="22913"/>
                          <a:pt x="8558423" y="0"/>
                        </a:cubicBezTo>
                        <a:cubicBezTo>
                          <a:pt x="8651180" y="-22913"/>
                          <a:pt x="8968052" y="39220"/>
                          <a:pt x="9104705" y="0"/>
                        </a:cubicBezTo>
                        <a:cubicBezTo>
                          <a:pt x="9104956" y="150001"/>
                          <a:pt x="9087217" y="226660"/>
                          <a:pt x="9104705" y="378050"/>
                        </a:cubicBezTo>
                        <a:cubicBezTo>
                          <a:pt x="9122193" y="529440"/>
                          <a:pt x="9049825" y="713226"/>
                          <a:pt x="9104705" y="1039637"/>
                        </a:cubicBezTo>
                        <a:cubicBezTo>
                          <a:pt x="9159585" y="1366048"/>
                          <a:pt x="9040696" y="1500371"/>
                          <a:pt x="9104705" y="1772109"/>
                        </a:cubicBezTo>
                        <a:cubicBezTo>
                          <a:pt x="9168714" y="2043847"/>
                          <a:pt x="9082851" y="2003929"/>
                          <a:pt x="9104705" y="2150159"/>
                        </a:cubicBezTo>
                        <a:cubicBezTo>
                          <a:pt x="9126559" y="2296389"/>
                          <a:pt x="9094415" y="2711631"/>
                          <a:pt x="9104705" y="2882631"/>
                        </a:cubicBezTo>
                        <a:cubicBezTo>
                          <a:pt x="9114995" y="3053631"/>
                          <a:pt x="9034147" y="3258966"/>
                          <a:pt x="9104705" y="3615103"/>
                        </a:cubicBezTo>
                        <a:cubicBezTo>
                          <a:pt x="9175263" y="3971240"/>
                          <a:pt x="9092172" y="3823487"/>
                          <a:pt x="9104705" y="3993153"/>
                        </a:cubicBezTo>
                        <a:cubicBezTo>
                          <a:pt x="9117238" y="4162819"/>
                          <a:pt x="9082424" y="4427021"/>
                          <a:pt x="9104705" y="4583856"/>
                        </a:cubicBezTo>
                        <a:cubicBezTo>
                          <a:pt x="9126986" y="4740691"/>
                          <a:pt x="9098965" y="4945859"/>
                          <a:pt x="9104705" y="5103675"/>
                        </a:cubicBezTo>
                        <a:cubicBezTo>
                          <a:pt x="9110445" y="5261491"/>
                          <a:pt x="9045486" y="5368792"/>
                          <a:pt x="9104705" y="5623493"/>
                        </a:cubicBezTo>
                        <a:cubicBezTo>
                          <a:pt x="9163924" y="5878194"/>
                          <a:pt x="9048093" y="5974805"/>
                          <a:pt x="9104705" y="6143312"/>
                        </a:cubicBezTo>
                        <a:cubicBezTo>
                          <a:pt x="9161317" y="6311819"/>
                          <a:pt x="9060648" y="6380166"/>
                          <a:pt x="9104705" y="6521362"/>
                        </a:cubicBezTo>
                        <a:cubicBezTo>
                          <a:pt x="9148762" y="6662558"/>
                          <a:pt x="9071082" y="6885250"/>
                          <a:pt x="9104705" y="7088437"/>
                        </a:cubicBezTo>
                        <a:cubicBezTo>
                          <a:pt x="8794896" y="7162175"/>
                          <a:pt x="8596676" y="7003388"/>
                          <a:pt x="8353567" y="7088437"/>
                        </a:cubicBezTo>
                        <a:cubicBezTo>
                          <a:pt x="8110458" y="7173486"/>
                          <a:pt x="7918965" y="7029246"/>
                          <a:pt x="7784523" y="7088437"/>
                        </a:cubicBezTo>
                        <a:cubicBezTo>
                          <a:pt x="7650081" y="7147628"/>
                          <a:pt x="7273558" y="7022146"/>
                          <a:pt x="7033385" y="7088437"/>
                        </a:cubicBezTo>
                        <a:cubicBezTo>
                          <a:pt x="6793212" y="7154728"/>
                          <a:pt x="6561582" y="7086427"/>
                          <a:pt x="6282246" y="7088437"/>
                        </a:cubicBezTo>
                        <a:cubicBezTo>
                          <a:pt x="6002910" y="7090447"/>
                          <a:pt x="6038077" y="7053748"/>
                          <a:pt x="5895296" y="7088437"/>
                        </a:cubicBezTo>
                        <a:cubicBezTo>
                          <a:pt x="5752515" y="7123126"/>
                          <a:pt x="5594434" y="7040359"/>
                          <a:pt x="5417299" y="7088437"/>
                        </a:cubicBezTo>
                        <a:cubicBezTo>
                          <a:pt x="5240164" y="7136515"/>
                          <a:pt x="5044216" y="7062845"/>
                          <a:pt x="4848255" y="7088437"/>
                        </a:cubicBezTo>
                        <a:cubicBezTo>
                          <a:pt x="4652294" y="7114029"/>
                          <a:pt x="4550740" y="7071860"/>
                          <a:pt x="4279211" y="7088437"/>
                        </a:cubicBezTo>
                        <a:cubicBezTo>
                          <a:pt x="4007682" y="7105014"/>
                          <a:pt x="3786553" y="7081559"/>
                          <a:pt x="3619120" y="7088437"/>
                        </a:cubicBezTo>
                        <a:cubicBezTo>
                          <a:pt x="3451687" y="7095315"/>
                          <a:pt x="3337039" y="7065223"/>
                          <a:pt x="3232170" y="7088437"/>
                        </a:cubicBezTo>
                        <a:cubicBezTo>
                          <a:pt x="3127301" y="7111651"/>
                          <a:pt x="2956342" y="7051166"/>
                          <a:pt x="2845220" y="7088437"/>
                        </a:cubicBezTo>
                        <a:cubicBezTo>
                          <a:pt x="2734098" y="7125708"/>
                          <a:pt x="2354557" y="7018377"/>
                          <a:pt x="2094082" y="7088437"/>
                        </a:cubicBezTo>
                        <a:cubicBezTo>
                          <a:pt x="1833607" y="7158497"/>
                          <a:pt x="1509508" y="7070790"/>
                          <a:pt x="1342944" y="7088437"/>
                        </a:cubicBezTo>
                        <a:cubicBezTo>
                          <a:pt x="1176380" y="7106084"/>
                          <a:pt x="955218" y="7059701"/>
                          <a:pt x="773900" y="7088437"/>
                        </a:cubicBezTo>
                        <a:cubicBezTo>
                          <a:pt x="592582" y="7117173"/>
                          <a:pt x="233689" y="7056555"/>
                          <a:pt x="0" y="7088437"/>
                        </a:cubicBezTo>
                        <a:cubicBezTo>
                          <a:pt x="-31553" y="6907371"/>
                          <a:pt x="9285" y="6786839"/>
                          <a:pt x="0" y="6710387"/>
                        </a:cubicBezTo>
                        <a:cubicBezTo>
                          <a:pt x="-9285" y="6633935"/>
                          <a:pt x="29539" y="6350631"/>
                          <a:pt x="0" y="6119684"/>
                        </a:cubicBezTo>
                        <a:cubicBezTo>
                          <a:pt x="-29539" y="5888737"/>
                          <a:pt x="9536" y="5728828"/>
                          <a:pt x="0" y="5528981"/>
                        </a:cubicBezTo>
                        <a:cubicBezTo>
                          <a:pt x="-9536" y="5329134"/>
                          <a:pt x="10867" y="5241504"/>
                          <a:pt x="0" y="5009162"/>
                        </a:cubicBezTo>
                        <a:cubicBezTo>
                          <a:pt x="-10867" y="4776820"/>
                          <a:pt x="35773" y="4725313"/>
                          <a:pt x="0" y="4489343"/>
                        </a:cubicBezTo>
                        <a:cubicBezTo>
                          <a:pt x="-35773" y="4253373"/>
                          <a:pt x="43614" y="4271651"/>
                          <a:pt x="0" y="4111293"/>
                        </a:cubicBezTo>
                        <a:cubicBezTo>
                          <a:pt x="-43614" y="3950935"/>
                          <a:pt x="26495" y="3889196"/>
                          <a:pt x="0" y="3733243"/>
                        </a:cubicBezTo>
                        <a:cubicBezTo>
                          <a:pt x="-26495" y="3577290"/>
                          <a:pt x="40113" y="3468874"/>
                          <a:pt x="0" y="3355194"/>
                        </a:cubicBezTo>
                        <a:cubicBezTo>
                          <a:pt x="-40113" y="3241514"/>
                          <a:pt x="33243" y="3154817"/>
                          <a:pt x="0" y="2977144"/>
                        </a:cubicBezTo>
                        <a:cubicBezTo>
                          <a:pt x="-33243" y="2799471"/>
                          <a:pt x="6709" y="2724780"/>
                          <a:pt x="0" y="2599094"/>
                        </a:cubicBezTo>
                        <a:cubicBezTo>
                          <a:pt x="-6709" y="2473408"/>
                          <a:pt x="5285" y="2322644"/>
                          <a:pt x="0" y="2079275"/>
                        </a:cubicBezTo>
                        <a:cubicBezTo>
                          <a:pt x="-5285" y="1835906"/>
                          <a:pt x="8695" y="1844115"/>
                          <a:pt x="0" y="1701225"/>
                        </a:cubicBezTo>
                        <a:cubicBezTo>
                          <a:pt x="-8695" y="1558335"/>
                          <a:pt x="86545" y="1158945"/>
                          <a:pt x="0" y="968753"/>
                        </a:cubicBezTo>
                        <a:cubicBezTo>
                          <a:pt x="-86545" y="778561"/>
                          <a:pt x="378" y="740257"/>
                          <a:pt x="0" y="590703"/>
                        </a:cubicBezTo>
                        <a:cubicBezTo>
                          <a:pt x="-378" y="441149"/>
                          <a:pt x="38863" y="189250"/>
                          <a:pt x="0" y="0"/>
                        </a:cubicBezTo>
                        <a:close/>
                      </a:path>
                      <a:path w="9104705" h="7088437" stroke="0" extrusionOk="0">
                        <a:moveTo>
                          <a:pt x="0" y="0"/>
                        </a:moveTo>
                        <a:cubicBezTo>
                          <a:pt x="119974" y="-34411"/>
                          <a:pt x="314882" y="51764"/>
                          <a:pt x="477997" y="0"/>
                        </a:cubicBezTo>
                        <a:cubicBezTo>
                          <a:pt x="641112" y="-51764"/>
                          <a:pt x="641093" y="25358"/>
                          <a:pt x="773900" y="0"/>
                        </a:cubicBezTo>
                        <a:cubicBezTo>
                          <a:pt x="906707" y="-25358"/>
                          <a:pt x="1339288" y="57025"/>
                          <a:pt x="1525038" y="0"/>
                        </a:cubicBezTo>
                        <a:cubicBezTo>
                          <a:pt x="1710788" y="-57025"/>
                          <a:pt x="1868636" y="20920"/>
                          <a:pt x="2003035" y="0"/>
                        </a:cubicBezTo>
                        <a:cubicBezTo>
                          <a:pt x="2137434" y="-20920"/>
                          <a:pt x="2324041" y="29546"/>
                          <a:pt x="2481032" y="0"/>
                        </a:cubicBezTo>
                        <a:cubicBezTo>
                          <a:pt x="2638023" y="-29546"/>
                          <a:pt x="2966148" y="9859"/>
                          <a:pt x="3232170" y="0"/>
                        </a:cubicBezTo>
                        <a:cubicBezTo>
                          <a:pt x="3498192" y="-9859"/>
                          <a:pt x="3450666" y="23049"/>
                          <a:pt x="3619120" y="0"/>
                        </a:cubicBezTo>
                        <a:cubicBezTo>
                          <a:pt x="3787574" y="-23049"/>
                          <a:pt x="4013551" y="51832"/>
                          <a:pt x="4370258" y="0"/>
                        </a:cubicBezTo>
                        <a:cubicBezTo>
                          <a:pt x="4726965" y="-51832"/>
                          <a:pt x="4966033" y="9778"/>
                          <a:pt x="5121397" y="0"/>
                        </a:cubicBezTo>
                        <a:cubicBezTo>
                          <a:pt x="5276761" y="-9778"/>
                          <a:pt x="5477620" y="54652"/>
                          <a:pt x="5690441" y="0"/>
                        </a:cubicBezTo>
                        <a:cubicBezTo>
                          <a:pt x="5903262" y="-54652"/>
                          <a:pt x="6206480" y="1557"/>
                          <a:pt x="6441579" y="0"/>
                        </a:cubicBezTo>
                        <a:cubicBezTo>
                          <a:pt x="6676678" y="-1557"/>
                          <a:pt x="6764801" y="7772"/>
                          <a:pt x="6919576" y="0"/>
                        </a:cubicBezTo>
                        <a:cubicBezTo>
                          <a:pt x="7074351" y="-7772"/>
                          <a:pt x="7275507" y="32462"/>
                          <a:pt x="7397573" y="0"/>
                        </a:cubicBezTo>
                        <a:cubicBezTo>
                          <a:pt x="7519639" y="-32462"/>
                          <a:pt x="7757890" y="30695"/>
                          <a:pt x="8057664" y="0"/>
                        </a:cubicBezTo>
                        <a:cubicBezTo>
                          <a:pt x="8357438" y="-30695"/>
                          <a:pt x="8414570" y="40675"/>
                          <a:pt x="8535661" y="0"/>
                        </a:cubicBezTo>
                        <a:cubicBezTo>
                          <a:pt x="8656752" y="-40675"/>
                          <a:pt x="8845596" y="39358"/>
                          <a:pt x="9104705" y="0"/>
                        </a:cubicBezTo>
                        <a:cubicBezTo>
                          <a:pt x="9123714" y="354749"/>
                          <a:pt x="9058502" y="483454"/>
                          <a:pt x="9104705" y="732472"/>
                        </a:cubicBezTo>
                        <a:cubicBezTo>
                          <a:pt x="9150908" y="981490"/>
                          <a:pt x="9032785" y="1215031"/>
                          <a:pt x="9104705" y="1394059"/>
                        </a:cubicBezTo>
                        <a:cubicBezTo>
                          <a:pt x="9176625" y="1573087"/>
                          <a:pt x="9055953" y="1814723"/>
                          <a:pt x="9104705" y="2055647"/>
                        </a:cubicBezTo>
                        <a:cubicBezTo>
                          <a:pt x="9153457" y="2296571"/>
                          <a:pt x="9062578" y="2260235"/>
                          <a:pt x="9104705" y="2433697"/>
                        </a:cubicBezTo>
                        <a:cubicBezTo>
                          <a:pt x="9146832" y="2607159"/>
                          <a:pt x="9098054" y="2784077"/>
                          <a:pt x="9104705" y="2882631"/>
                        </a:cubicBezTo>
                        <a:cubicBezTo>
                          <a:pt x="9111356" y="2981185"/>
                          <a:pt x="9034058" y="3349949"/>
                          <a:pt x="9104705" y="3544218"/>
                        </a:cubicBezTo>
                        <a:cubicBezTo>
                          <a:pt x="9175352" y="3738487"/>
                          <a:pt x="9044542" y="3876066"/>
                          <a:pt x="9104705" y="4064037"/>
                        </a:cubicBezTo>
                        <a:cubicBezTo>
                          <a:pt x="9164868" y="4252008"/>
                          <a:pt x="9089253" y="4404278"/>
                          <a:pt x="9104705" y="4512972"/>
                        </a:cubicBezTo>
                        <a:cubicBezTo>
                          <a:pt x="9120157" y="4621667"/>
                          <a:pt x="9044480" y="4982775"/>
                          <a:pt x="9104705" y="5174559"/>
                        </a:cubicBezTo>
                        <a:cubicBezTo>
                          <a:pt x="9164930" y="5366343"/>
                          <a:pt x="9035904" y="5590194"/>
                          <a:pt x="9104705" y="5765262"/>
                        </a:cubicBezTo>
                        <a:cubicBezTo>
                          <a:pt x="9173506" y="5940330"/>
                          <a:pt x="9057899" y="6097505"/>
                          <a:pt x="9104705" y="6355965"/>
                        </a:cubicBezTo>
                        <a:cubicBezTo>
                          <a:pt x="9151511" y="6614425"/>
                          <a:pt x="9029629" y="6869449"/>
                          <a:pt x="9104705" y="7088437"/>
                        </a:cubicBezTo>
                        <a:cubicBezTo>
                          <a:pt x="8834763" y="7131735"/>
                          <a:pt x="8635529" y="7071689"/>
                          <a:pt x="8444614" y="7088437"/>
                        </a:cubicBezTo>
                        <a:cubicBezTo>
                          <a:pt x="8253699" y="7105185"/>
                          <a:pt x="8215709" y="7047581"/>
                          <a:pt x="8057664" y="7088437"/>
                        </a:cubicBezTo>
                        <a:cubicBezTo>
                          <a:pt x="7899619" y="7129293"/>
                          <a:pt x="7534321" y="7013440"/>
                          <a:pt x="7397573" y="7088437"/>
                        </a:cubicBezTo>
                        <a:cubicBezTo>
                          <a:pt x="7260825" y="7163434"/>
                          <a:pt x="7237731" y="7083265"/>
                          <a:pt x="7101670" y="7088437"/>
                        </a:cubicBezTo>
                        <a:cubicBezTo>
                          <a:pt x="6965609" y="7093609"/>
                          <a:pt x="6607934" y="7052473"/>
                          <a:pt x="6441579" y="7088437"/>
                        </a:cubicBezTo>
                        <a:cubicBezTo>
                          <a:pt x="6275224" y="7124401"/>
                          <a:pt x="6158162" y="7068867"/>
                          <a:pt x="6054629" y="7088437"/>
                        </a:cubicBezTo>
                        <a:cubicBezTo>
                          <a:pt x="5951096" y="7108007"/>
                          <a:pt x="5865653" y="7058752"/>
                          <a:pt x="5758726" y="7088437"/>
                        </a:cubicBezTo>
                        <a:cubicBezTo>
                          <a:pt x="5651799" y="7118122"/>
                          <a:pt x="5517884" y="7052399"/>
                          <a:pt x="5371776" y="7088437"/>
                        </a:cubicBezTo>
                        <a:cubicBezTo>
                          <a:pt x="5225668" y="7124475"/>
                          <a:pt x="5005979" y="7009645"/>
                          <a:pt x="4711685" y="7088437"/>
                        </a:cubicBezTo>
                        <a:cubicBezTo>
                          <a:pt x="4417391" y="7167229"/>
                          <a:pt x="4506598" y="7060854"/>
                          <a:pt x="4324735" y="7088437"/>
                        </a:cubicBezTo>
                        <a:cubicBezTo>
                          <a:pt x="4142872" y="7116020"/>
                          <a:pt x="4174002" y="7075726"/>
                          <a:pt x="4028832" y="7088437"/>
                        </a:cubicBezTo>
                        <a:cubicBezTo>
                          <a:pt x="3883662" y="7101148"/>
                          <a:pt x="3827148" y="7069393"/>
                          <a:pt x="3641882" y="7088437"/>
                        </a:cubicBezTo>
                        <a:cubicBezTo>
                          <a:pt x="3456616" y="7107481"/>
                          <a:pt x="3326291" y="7073696"/>
                          <a:pt x="3163885" y="7088437"/>
                        </a:cubicBezTo>
                        <a:cubicBezTo>
                          <a:pt x="3001479" y="7103178"/>
                          <a:pt x="2768110" y="7029598"/>
                          <a:pt x="2594841" y="7088437"/>
                        </a:cubicBezTo>
                        <a:cubicBezTo>
                          <a:pt x="2421572" y="7147276"/>
                          <a:pt x="2334540" y="7046320"/>
                          <a:pt x="2207891" y="7088437"/>
                        </a:cubicBezTo>
                        <a:cubicBezTo>
                          <a:pt x="2081242" y="7130554"/>
                          <a:pt x="1803566" y="7051536"/>
                          <a:pt x="1456753" y="7088437"/>
                        </a:cubicBezTo>
                        <a:cubicBezTo>
                          <a:pt x="1109940" y="7125338"/>
                          <a:pt x="1170316" y="7067874"/>
                          <a:pt x="887709" y="7088437"/>
                        </a:cubicBezTo>
                        <a:cubicBezTo>
                          <a:pt x="605102" y="7109000"/>
                          <a:pt x="227236" y="7023062"/>
                          <a:pt x="0" y="7088437"/>
                        </a:cubicBezTo>
                        <a:cubicBezTo>
                          <a:pt x="-66169" y="6899771"/>
                          <a:pt x="46365" y="6713415"/>
                          <a:pt x="0" y="6426850"/>
                        </a:cubicBezTo>
                        <a:cubicBezTo>
                          <a:pt x="-46365" y="6140285"/>
                          <a:pt x="52790" y="6127871"/>
                          <a:pt x="0" y="5836146"/>
                        </a:cubicBezTo>
                        <a:cubicBezTo>
                          <a:pt x="-52790" y="5544421"/>
                          <a:pt x="211" y="5490934"/>
                          <a:pt x="0" y="5316328"/>
                        </a:cubicBezTo>
                        <a:cubicBezTo>
                          <a:pt x="-211" y="5141722"/>
                          <a:pt x="66033" y="4961606"/>
                          <a:pt x="0" y="4654740"/>
                        </a:cubicBezTo>
                        <a:cubicBezTo>
                          <a:pt x="-66033" y="4347874"/>
                          <a:pt x="51963" y="4226087"/>
                          <a:pt x="0" y="4064037"/>
                        </a:cubicBezTo>
                        <a:cubicBezTo>
                          <a:pt x="-51963" y="3901987"/>
                          <a:pt x="75515" y="3677664"/>
                          <a:pt x="0" y="3331565"/>
                        </a:cubicBezTo>
                        <a:cubicBezTo>
                          <a:pt x="-75515" y="2985466"/>
                          <a:pt x="41226" y="2807826"/>
                          <a:pt x="0" y="2599094"/>
                        </a:cubicBezTo>
                        <a:cubicBezTo>
                          <a:pt x="-41226" y="2390362"/>
                          <a:pt x="20826" y="2138245"/>
                          <a:pt x="0" y="1937506"/>
                        </a:cubicBezTo>
                        <a:cubicBezTo>
                          <a:pt x="-20826" y="1736767"/>
                          <a:pt x="11063" y="1488099"/>
                          <a:pt x="0" y="1275919"/>
                        </a:cubicBezTo>
                        <a:cubicBezTo>
                          <a:pt x="-11063" y="1063739"/>
                          <a:pt x="32629" y="899906"/>
                          <a:pt x="0" y="614331"/>
                        </a:cubicBezTo>
                        <a:cubicBezTo>
                          <a:pt x="-32629" y="328756"/>
                          <a:pt x="43568" y="151736"/>
                          <a:pt x="0" y="0"/>
                        </a:cubicBezTo>
                        <a:close/>
                      </a:path>
                    </a:pathLst>
                  </a:custGeom>
                  <ask:type>
                    <ask:lineSketchNone/>
                  </ask:type>
                </ask:lineSketchStyleProps>
              </a:ext>
            </a:extLst>
          </a:ln>
        </p:spPr>
      </p:pic>
      <p:sp>
        <p:nvSpPr>
          <p:cNvPr id="21" name="Rectangle 20">
            <a:extLst>
              <a:ext uri="{FF2B5EF4-FFF2-40B4-BE49-F238E27FC236}">
                <a16:creationId xmlns:a16="http://schemas.microsoft.com/office/drawing/2014/main" id="{4919FEE4-306C-DE60-48A7-AB8B9D61EF1E}"/>
              </a:ext>
            </a:extLst>
          </p:cNvPr>
          <p:cNvSpPr/>
          <p:nvPr/>
        </p:nvSpPr>
        <p:spPr>
          <a:xfrm>
            <a:off x="10784348" y="5422525"/>
            <a:ext cx="10497577" cy="26835010"/>
          </a:xfrm>
          <a:prstGeom prst="rect">
            <a:avLst/>
          </a:prstGeom>
          <a:noFill/>
          <a:ln w="38100">
            <a:solidFill>
              <a:srgbClr val="CB2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1BC168E-B8A8-57E1-2612-BA17028C1E57}"/>
              </a:ext>
            </a:extLst>
          </p:cNvPr>
          <p:cNvSpPr/>
          <p:nvPr/>
        </p:nvSpPr>
        <p:spPr>
          <a:xfrm>
            <a:off x="32815530" y="23442139"/>
            <a:ext cx="10433181" cy="8870688"/>
          </a:xfrm>
          <a:prstGeom prst="rect">
            <a:avLst/>
          </a:prstGeom>
          <a:noFill/>
          <a:ln w="38100">
            <a:solidFill>
              <a:srgbClr val="CB2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8B2D1C9-D750-8778-DA39-36D557E71079}"/>
              </a:ext>
            </a:extLst>
          </p:cNvPr>
          <p:cNvSpPr/>
          <p:nvPr/>
        </p:nvSpPr>
        <p:spPr>
          <a:xfrm>
            <a:off x="21525470" y="23442139"/>
            <a:ext cx="10673243" cy="8815396"/>
          </a:xfrm>
          <a:prstGeom prst="rect">
            <a:avLst/>
          </a:prstGeom>
          <a:noFill/>
          <a:ln w="38100">
            <a:solidFill>
              <a:srgbClr val="CB2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C95181A-8A69-FEBB-F488-5C6E0EF2665F}"/>
              </a:ext>
            </a:extLst>
          </p:cNvPr>
          <p:cNvSpPr/>
          <p:nvPr/>
        </p:nvSpPr>
        <p:spPr>
          <a:xfrm>
            <a:off x="553086" y="5422525"/>
            <a:ext cx="9951765" cy="20551065"/>
          </a:xfrm>
          <a:prstGeom prst="rect">
            <a:avLst/>
          </a:prstGeom>
          <a:noFill/>
          <a:ln w="38100">
            <a:solidFill>
              <a:srgbClr val="CB2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7">
            <a:extLst>
              <a:ext uri="{FF2B5EF4-FFF2-40B4-BE49-F238E27FC236}">
                <a16:creationId xmlns:a16="http://schemas.microsoft.com/office/drawing/2014/main" id="{9FD2A266-5C90-02D3-6F73-F149717CAA27}"/>
              </a:ext>
            </a:extLst>
          </p:cNvPr>
          <p:cNvSpPr txBox="1">
            <a:spLocks/>
          </p:cNvSpPr>
          <p:nvPr/>
        </p:nvSpPr>
        <p:spPr>
          <a:xfrm>
            <a:off x="559138" y="5563448"/>
            <a:ext cx="10048875" cy="784822"/>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900" dirty="0">
                <a:solidFill>
                  <a:schemeClr val="tx1"/>
                </a:solidFill>
              </a:rPr>
              <a:t>Abstract</a:t>
            </a:r>
          </a:p>
        </p:txBody>
      </p:sp>
      <p:sp>
        <p:nvSpPr>
          <p:cNvPr id="11" name="Text Placeholder 86">
            <a:extLst>
              <a:ext uri="{FF2B5EF4-FFF2-40B4-BE49-F238E27FC236}">
                <a16:creationId xmlns:a16="http://schemas.microsoft.com/office/drawing/2014/main" id="{4F7B78C7-03E8-E2BB-E369-C2CB168258F4}"/>
              </a:ext>
            </a:extLst>
          </p:cNvPr>
          <p:cNvSpPr txBox="1">
            <a:spLocks/>
          </p:cNvSpPr>
          <p:nvPr/>
        </p:nvSpPr>
        <p:spPr>
          <a:xfrm>
            <a:off x="670766" y="11957470"/>
            <a:ext cx="10056813" cy="489362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000" dirty="0">
                <a:solidFill>
                  <a:schemeClr val="tx1"/>
                </a:solidFill>
              </a:rPr>
              <a:t>Cardiovascular disease is one of the leading causes of death worldwide.</a:t>
            </a:r>
          </a:p>
          <a:p>
            <a:r>
              <a:rPr lang="en-US" sz="3000" dirty="0">
                <a:solidFill>
                  <a:schemeClr val="tx1"/>
                </a:solidFill>
              </a:rPr>
              <a:t>Early detection of risk factors allows for preventative treatment and improved patient outcomes.</a:t>
            </a:r>
          </a:p>
          <a:p>
            <a:r>
              <a:rPr lang="en-US" sz="3000" dirty="0">
                <a:solidFill>
                  <a:schemeClr val="tx1"/>
                </a:solidFill>
              </a:rPr>
              <a:t>Machine learning models can identify patterns in health data that help predict disease risk.</a:t>
            </a:r>
          </a:p>
          <a:p>
            <a:r>
              <a:rPr lang="en-US" sz="3000" dirty="0">
                <a:solidFill>
                  <a:schemeClr val="tx1"/>
                </a:solidFill>
              </a:rPr>
              <a:t>Predictive models can help healthcare providers identify individuals at higher risk and support preventative treatment strategies.</a:t>
            </a:r>
          </a:p>
        </p:txBody>
      </p:sp>
      <p:pic>
        <p:nvPicPr>
          <p:cNvPr id="1032" name="Picture 8" descr="Strong heart health lowers long-term death risk in cancer survivors">
            <a:extLst>
              <a:ext uri="{FF2B5EF4-FFF2-40B4-BE49-F238E27FC236}">
                <a16:creationId xmlns:a16="http://schemas.microsoft.com/office/drawing/2014/main" id="{FEC0BE13-A85F-864A-DA63-D958862DCAAF}"/>
              </a:ext>
            </a:extLst>
          </p:cNvPr>
          <p:cNvPicPr>
            <a:picLocks noChangeAspect="1" noChangeArrowheads="1"/>
          </p:cNvPicPr>
          <p:nvPr/>
        </p:nvPicPr>
        <p:blipFill rotWithShape="1">
          <a:blip r:embed="rId6">
            <a:alphaModFix amt="85000"/>
            <a:extLst>
              <a:ext uri="{28A0092B-C50C-407E-A947-70E740481C1C}">
                <a14:useLocalDpi xmlns:a14="http://schemas.microsoft.com/office/drawing/2010/main" val="0"/>
              </a:ext>
            </a:extLst>
          </a:blip>
          <a:srcRect t="7033" b="4679"/>
          <a:stretch>
            <a:fillRect/>
          </a:stretch>
        </p:blipFill>
        <p:spPr bwMode="auto">
          <a:xfrm>
            <a:off x="1120245" y="26591813"/>
            <a:ext cx="8591170" cy="5273288"/>
          </a:xfrm>
          <a:prstGeom prst="rect">
            <a:avLst/>
          </a:prstGeom>
          <a:noFill/>
          <a:ln w="57150">
            <a:noFill/>
          </a:ln>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B7953955-07DC-7770-29B7-449E07F4C1B7}"/>
              </a:ext>
            </a:extLst>
          </p:cNvPr>
          <p:cNvSpPr/>
          <p:nvPr/>
        </p:nvSpPr>
        <p:spPr>
          <a:xfrm>
            <a:off x="553086" y="26168031"/>
            <a:ext cx="9951765" cy="6089504"/>
          </a:xfrm>
          <a:prstGeom prst="rect">
            <a:avLst/>
          </a:prstGeom>
          <a:noFill/>
          <a:ln w="38100">
            <a:solidFill>
              <a:srgbClr val="CB2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Heart organ outline">
            <a:extLst>
              <a:ext uri="{FF2B5EF4-FFF2-40B4-BE49-F238E27FC236}">
                <a16:creationId xmlns:a16="http://schemas.microsoft.com/office/drawing/2014/main" id="{357032E1-565B-080F-BA9B-4A775DB7CF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7432" y="179307"/>
            <a:ext cx="5064053" cy="5064053"/>
          </a:xfrm>
          <a:prstGeom prst="rect">
            <a:avLst/>
          </a:prstGeom>
        </p:spPr>
      </p:pic>
      <p:pic>
        <p:nvPicPr>
          <p:cNvPr id="31" name="Graphic 30" descr="Heartbeat outline">
            <a:extLst>
              <a:ext uri="{FF2B5EF4-FFF2-40B4-BE49-F238E27FC236}">
                <a16:creationId xmlns:a16="http://schemas.microsoft.com/office/drawing/2014/main" id="{644CB5B1-2712-9322-43B8-8309E39465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633140" y="8299"/>
            <a:ext cx="6305631" cy="5111206"/>
          </a:xfrm>
          <a:prstGeom prst="rect">
            <a:avLst/>
          </a:prstGeom>
        </p:spPr>
      </p:pic>
    </p:spTree>
    <p:extLst>
      <p:ext uri="{BB962C8B-B14F-4D97-AF65-F5344CB8AC3E}">
        <p14:creationId xmlns:p14="http://schemas.microsoft.com/office/powerpoint/2010/main" val="783191702"/>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2565</TotalTime>
  <Words>827</Words>
  <Application>Microsoft Office PowerPoint</Application>
  <PresentationFormat>Custom</PresentationFormat>
  <Paragraphs>122</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Calibri</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ellie landoch</cp:lastModifiedBy>
  <cp:revision>66</cp:revision>
  <dcterms:created xsi:type="dcterms:W3CDTF">2012-02-03T19:11:35Z</dcterms:created>
  <dcterms:modified xsi:type="dcterms:W3CDTF">2026-03-19T06:59:52Z</dcterms:modified>
  <cp:category>Research poster templates</cp:category>
</cp:coreProperties>
</file>